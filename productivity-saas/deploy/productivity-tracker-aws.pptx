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cbfcbd1-0268-af80-0b31-596d9d385457}">
          <p14:sldIdLst>
            <p14:sldId id="256"/>
            <p14:sldId id="257"/>
          </p14:sldIdLst>
        </p14:section>
        <p14:section name="Deployment" id="{5299376f-ddff-00b4-a675-1025283312f2}">
          <p14:sldIdLst>
            <p14:sldId id="258"/>
            <p14:sldId id="259"/>
            <p14:sldId id="260"/>
            <p14:sldId id="261"/>
            <p14:sldId id="262"/>
            <p14:sldId id="263"/>
          </p14:sldIdLst>
        </p14:section>
        <p14:section name="Hardening" id="{c05ffe42-dad2-d559-2461-a9b012d49126}">
          <p14:sldIdLst>
            <p14:sldId id="264"/>
            <p14:sldId id="265"/>
            <p14:sldId id="266"/>
          </p14:sldIdLst>
        </p14:section>
        <p14:section name="Wrap up" id="{381bffe4-f689-dd2d-a10a-986953121b0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what the project is and how it was put on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app first: it is a personal productivity platform. Tasks and habits with streaks, Pomodoro focus sessions with automatic distraction detection, notes, a calendar and an analytics dashboard with two custom scores. Stack is vanilla JS, Node and Express, JWT with bcrypt, MongoDB Atlas.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the app ran on Netlify and Render free tiers, where the API sleeps and the first load is slow. The goal of the project was to move it to AWS so everything is always on and defined as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hits the Elastic IP on port 80. nginx serves the client and proxies /api to Node. Node reads secrets from SSM through the instance role and talks to Atlas.Table of every AWS service used and its job. Stress that nothing is clicked together by hand: CloudFormation builds all of it from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decision and the reason. EC2 because the API is a long running server. nginx gives one origin. SSM plus IAM keeps secrets out of code. CloudFormation gives repeatability and change set previews. Elastic IP because Atlas needs a fixed address. Only port 80 open, admin through Session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Secrets flow. They are stored encrypted in Parameter Store, fetched at service start through the instance role, written to memory only, and rotated by updating the parameter and restarting.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problems we hit. The last one is the best story: logins timed out and it looked like an Atlas firewall problem, but the server log showed it was connecting to localhost. The shell reading the env file treated the ampersands in the connection string as syntax. Reading the log instead of guessing found it 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checks run against the live server. Logged-in features were exercised in the live demo with a real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HTTPS through CloudFront once AWS finishes verifying the account, a domain, redundancy with a load balancer, log shipping, backups and a CI/CD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site is live at the address on screen. Everything is reproducible from the repository. Happy to take questions or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228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786384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017520"/>
            <a:ext cx="786384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8F"/>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8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7863840" cy="1371600"/>
          </a:xfrm>
          <a:prstGeom prst="rect">
            <a:avLst/>
          </a:prstGeom>
          <a:noFill/>
          <a:ln/>
        </p:spPr>
        <p:txBody>
          <a:bodyPr wrap="square" lIns="0" tIns="0" rIns="0" bIns="0" rtlCol="0" anchor="b"/>
          <a:lstStyle/>
          <a:p>
            <a:pPr algn="l" indent="0" marL="0">
              <a:buNone/>
            </a:pPr>
            <a:r>
              <a:rPr lang="en-US" sz="4000" b="1" dirty="0">
                <a:solidFill>
                  <a:schemeClr val="bg1"/>
                </a:solidFill>
              </a:rPr>
              <a:t>Productivity Tracker on AWS</a:t>
            </a:r>
            <a:endParaRPr lang="en-US" sz="4000" dirty="0"/>
          </a:p>
        </p:txBody>
      </p:sp>
      <p:sp>
        <p:nvSpPr>
          <p:cNvPr id="3" name="Text 0"/>
          <p:cNvSpPr/>
          <p:nvPr>
            <p:ph idx="101" type="body" hasCustomPrompt="1"/>
          </p:nvPr>
        </p:nvSpPr>
        <p:spPr>
          <a:xfrm>
            <a:off x="640080" y="3017520"/>
            <a:ext cx="7863840" cy="914400"/>
          </a:xfrm>
          <a:prstGeom prst="rect">
            <a:avLst/>
          </a:prstGeom>
          <a:noFill/>
          <a:ln/>
        </p:spPr>
        <p:txBody>
          <a:bodyPr wrap="square" lIns="0" tIns="0" rIns="0" bIns="0" rtlCol="0" anchor="t"/>
          <a:lstStyle/>
          <a:p>
            <a:pPr indent="0" marL="0">
              <a:buNone/>
            </a:pPr>
            <a:r>
              <a:rPr lang="en-US" sz="1800" dirty="0">
                <a:solidFill>
                  <a:schemeClr val="bg2"/>
                </a:solidFill>
              </a:rPr>
              <a:t>A full-stack productivity app, deployed as code on AWS</a:t>
            </a:r>
            <a:endParaRPr lang="en-US" sz="1800" dirty="0"/>
          </a:p>
        </p:txBody>
      </p:sp>
      <p:sp>
        <p:nvSpPr>
          <p:cNvPr id="4" name="motif"/>
          <p:cNvSpPr/>
          <p:nvPr/>
        </p:nvSpPr>
        <p:spPr>
          <a:xfrm>
            <a:off x="6949440" y="457200"/>
            <a:ext cx="1463040" cy="1463040"/>
          </a:xfrm>
          <a:prstGeom prst="ellipse">
            <a:avLst/>
          </a:prstGeom>
          <a:solidFill>
            <a:schemeClr val="accent1"/>
          </a:solidFill>
          <a:ln w="12700">
            <a:solidFill>
              <a:schemeClr val="accent1"/>
            </a:solidFill>
            <a:prstDash val="solid"/>
          </a:ln>
        </p:spPr>
      </p:sp>
      <p:sp>
        <p:nvSpPr>
          <p:cNvPr id="5" name="Text 3"/>
          <p:cNvSpPr txBox="1"/>
          <p:nvPr/>
        </p:nvSpPr>
        <p:spPr>
          <a:xfrm>
            <a:off x="6949440" y="457200"/>
            <a:ext cx="1463040" cy="1463040"/>
          </a:xfrm>
          <a:prstGeom prst="rect">
            <a:avLst/>
          </a:prstGeom>
          <a:noFill/>
          <a:ln/>
        </p:spPr>
        <p:txBody>
          <a:bodyPr wrap="square" lIns="0" tIns="0" rIns="0" bIns="0" rtlCol="0" anchor="ctr"/>
          <a:lstStyle/>
          <a:p>
            <a:pPr algn="ctr" indent="0" marL="0">
              <a:buNone/>
            </a:pPr>
            <a:r>
              <a:rPr lang="en-US" sz="3000" b="1" dirty="0">
                <a:solidFill>
                  <a:schemeClr val="tx2"/>
                </a:solidFill>
              </a:rPr>
              <a:t>AWS</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What the app does</a:t>
            </a:r>
            <a:endParaRPr lang="en-US" sz="3000" dirty="0"/>
          </a:p>
        </p:txBody>
      </p:sp>
      <p:sp>
        <p:nvSpPr>
          <p:cNvPr id="3" name="card0"/>
          <p:cNvSpPr/>
          <p:nvPr/>
        </p:nvSpPr>
        <p:spPr>
          <a:xfrm>
            <a:off x="548640" y="1280160"/>
            <a:ext cx="3931920" cy="1143000"/>
          </a:xfrm>
          <a:prstGeom prst="roundRect">
            <a:avLst>
              <a:gd name="adj" fmla="val 6400"/>
            </a:avLst>
          </a:prstGeom>
          <a:solidFill>
            <a:schemeClr val="bg2"/>
          </a:solidFill>
          <a:ln w="6350">
            <a:solidFill>
              <a:schemeClr val="bg2"/>
            </a:solidFill>
            <a:prstDash val="solid"/>
          </a:ln>
        </p:spPr>
      </p:sp>
      <p:sp>
        <p:nvSpPr>
          <p:cNvPr id="4" name="num0"/>
          <p:cNvSpPr txBox="1"/>
          <p:nvPr/>
        </p:nvSpPr>
        <p:spPr>
          <a:xfrm>
            <a:off x="731520" y="14630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280160" y="141732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Tasks and habits</a:t>
            </a:r>
            <a:endParaRPr lang="en-US" sz="1800" dirty="0"/>
          </a:p>
        </p:txBody>
      </p:sp>
      <p:sp>
        <p:nvSpPr>
          <p:cNvPr id="6" name="Text 4"/>
          <p:cNvSpPr txBox="1"/>
          <p:nvPr/>
        </p:nvSpPr>
        <p:spPr>
          <a:xfrm>
            <a:off x="1280160" y="1810512"/>
            <a:ext cx="3017520" cy="502920"/>
          </a:xfrm>
          <a:prstGeom prst="rect">
            <a:avLst/>
          </a:prstGeom>
          <a:noFill/>
          <a:ln/>
        </p:spPr>
        <p:txBody>
          <a:bodyPr wrap="square" lIns="0" tIns="0" rIns="0" bIns="0" rtlCol="0" anchor="t"/>
          <a:lstStyle/>
          <a:p>
            <a:pPr indent="0" marL="0">
              <a:buNone/>
            </a:pPr>
            <a:r>
              <a:rPr lang="en-US" sz="1400" dirty="0">
                <a:solidFill>
                  <a:schemeClr val="tx1"/>
                </a:solidFill>
              </a:rPr>
              <a:t>Priorities, due dates, daily streaks</a:t>
            </a:r>
            <a:endParaRPr lang="en-US" sz="1400" dirty="0"/>
          </a:p>
        </p:txBody>
      </p:sp>
      <p:sp>
        <p:nvSpPr>
          <p:cNvPr id="7" name="card1"/>
          <p:cNvSpPr/>
          <p:nvPr/>
        </p:nvSpPr>
        <p:spPr>
          <a:xfrm>
            <a:off x="4663440" y="1280160"/>
            <a:ext cx="3931920" cy="1143000"/>
          </a:xfrm>
          <a:prstGeom prst="roundRect">
            <a:avLst>
              <a:gd name="adj" fmla="val 6400"/>
            </a:avLst>
          </a:prstGeom>
          <a:solidFill>
            <a:schemeClr val="bg2"/>
          </a:solidFill>
          <a:ln w="6350">
            <a:solidFill>
              <a:schemeClr val="bg2"/>
            </a:solidFill>
            <a:prstDash val="solid"/>
          </a:ln>
        </p:spPr>
      </p:sp>
      <p:sp>
        <p:nvSpPr>
          <p:cNvPr id="8" name="num1"/>
          <p:cNvSpPr txBox="1"/>
          <p:nvPr/>
        </p:nvSpPr>
        <p:spPr>
          <a:xfrm>
            <a:off x="4846320" y="14630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5394960" y="141732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Focus sessions</a:t>
            </a:r>
            <a:endParaRPr lang="en-US" sz="1800" dirty="0"/>
          </a:p>
        </p:txBody>
      </p:sp>
      <p:sp>
        <p:nvSpPr>
          <p:cNvPr id="10" name="Text 8"/>
          <p:cNvSpPr txBox="1"/>
          <p:nvPr/>
        </p:nvSpPr>
        <p:spPr>
          <a:xfrm>
            <a:off x="5394960" y="1810512"/>
            <a:ext cx="3017520" cy="502920"/>
          </a:xfrm>
          <a:prstGeom prst="rect">
            <a:avLst/>
          </a:prstGeom>
          <a:noFill/>
          <a:ln/>
        </p:spPr>
        <p:txBody>
          <a:bodyPr wrap="square" lIns="0" tIns="0" rIns="0" bIns="0" rtlCol="0" anchor="t"/>
          <a:lstStyle/>
          <a:p>
            <a:pPr indent="0" marL="0">
              <a:buNone/>
            </a:pPr>
            <a:r>
              <a:rPr lang="en-US" sz="1400" dirty="0">
                <a:solidFill>
                  <a:schemeClr val="tx1"/>
                </a:solidFill>
              </a:rPr>
              <a:t>Pomodoro timer, tab-switch distraction tracking</a:t>
            </a:r>
            <a:endParaRPr lang="en-US" sz="1400" dirty="0"/>
          </a:p>
        </p:txBody>
      </p:sp>
      <p:sp>
        <p:nvSpPr>
          <p:cNvPr id="11" name="card2"/>
          <p:cNvSpPr/>
          <p:nvPr/>
        </p:nvSpPr>
        <p:spPr>
          <a:xfrm>
            <a:off x="548640" y="2606040"/>
            <a:ext cx="3931920" cy="1143000"/>
          </a:xfrm>
          <a:prstGeom prst="roundRect">
            <a:avLst>
              <a:gd name="adj" fmla="val 6400"/>
            </a:avLst>
          </a:prstGeom>
          <a:solidFill>
            <a:schemeClr val="bg2"/>
          </a:solidFill>
          <a:ln w="6350">
            <a:solidFill>
              <a:schemeClr val="bg2"/>
            </a:solidFill>
            <a:prstDash val="solid"/>
          </a:ln>
        </p:spPr>
      </p:sp>
      <p:sp>
        <p:nvSpPr>
          <p:cNvPr id="12" name="num2"/>
          <p:cNvSpPr txBox="1"/>
          <p:nvPr/>
        </p:nvSpPr>
        <p:spPr>
          <a:xfrm>
            <a:off x="731520" y="278892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280160" y="274320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Analytics</a:t>
            </a:r>
            <a:endParaRPr lang="en-US" sz="1800" dirty="0"/>
          </a:p>
        </p:txBody>
      </p:sp>
      <p:sp>
        <p:nvSpPr>
          <p:cNvPr id="14" name="Text 12"/>
          <p:cNvSpPr txBox="1"/>
          <p:nvPr/>
        </p:nvSpPr>
        <p:spPr>
          <a:xfrm>
            <a:off x="1280160" y="3136392"/>
            <a:ext cx="3017520" cy="502920"/>
          </a:xfrm>
          <a:prstGeom prst="rect">
            <a:avLst/>
          </a:prstGeom>
          <a:noFill/>
          <a:ln/>
        </p:spPr>
        <p:txBody>
          <a:bodyPr wrap="square" lIns="0" tIns="0" rIns="0" bIns="0" rtlCol="0" anchor="t"/>
          <a:lstStyle/>
          <a:p>
            <a:pPr indent="0" marL="0">
              <a:buNone/>
            </a:pPr>
            <a:r>
              <a:rPr lang="en-US" sz="1400" dirty="0">
                <a:solidFill>
                  <a:schemeClr val="tx1"/>
                </a:solidFill>
              </a:rPr>
              <a:t>Productivity and Focus scores, charts, heatmap</a:t>
            </a:r>
            <a:endParaRPr lang="en-US" sz="1400" dirty="0"/>
          </a:p>
        </p:txBody>
      </p:sp>
      <p:sp>
        <p:nvSpPr>
          <p:cNvPr id="15" name="card3"/>
          <p:cNvSpPr/>
          <p:nvPr/>
        </p:nvSpPr>
        <p:spPr>
          <a:xfrm>
            <a:off x="4663440" y="2606040"/>
            <a:ext cx="3931920" cy="1143000"/>
          </a:xfrm>
          <a:prstGeom prst="roundRect">
            <a:avLst>
              <a:gd name="adj" fmla="val 6400"/>
            </a:avLst>
          </a:prstGeom>
          <a:solidFill>
            <a:schemeClr val="bg2"/>
          </a:solidFill>
          <a:ln w="6350">
            <a:solidFill>
              <a:schemeClr val="bg2"/>
            </a:solidFill>
            <a:prstDash val="solid"/>
          </a:ln>
        </p:spPr>
      </p:sp>
      <p:sp>
        <p:nvSpPr>
          <p:cNvPr id="16" name="num3"/>
          <p:cNvSpPr txBox="1"/>
          <p:nvPr/>
        </p:nvSpPr>
        <p:spPr>
          <a:xfrm>
            <a:off x="4846320" y="278892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5394960" y="274320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Notes and calendar</a:t>
            </a:r>
            <a:endParaRPr lang="en-US" sz="1800" dirty="0"/>
          </a:p>
        </p:txBody>
      </p:sp>
      <p:sp>
        <p:nvSpPr>
          <p:cNvPr id="18" name="Text 16"/>
          <p:cNvSpPr txBox="1"/>
          <p:nvPr/>
        </p:nvSpPr>
        <p:spPr>
          <a:xfrm>
            <a:off x="5394960" y="3136392"/>
            <a:ext cx="3017520" cy="502920"/>
          </a:xfrm>
          <a:prstGeom prst="rect">
            <a:avLst/>
          </a:prstGeom>
          <a:noFill/>
          <a:ln/>
        </p:spPr>
        <p:txBody>
          <a:bodyPr wrap="square" lIns="0" tIns="0" rIns="0" bIns="0" rtlCol="0" anchor="t"/>
          <a:lstStyle/>
          <a:p>
            <a:pPr indent="0" marL="0">
              <a:buNone/>
            </a:pPr>
            <a:r>
              <a:rPr lang="en-US" sz="1400" dirty="0">
                <a:solidFill>
                  <a:schemeClr val="tx1"/>
                </a:solidFill>
              </a:rPr>
              <a:t>Per-user notes, calendar of tasks and habits</a:t>
            </a:r>
            <a:endParaRPr lang="en-US" sz="1400" dirty="0"/>
          </a:p>
        </p:txBody>
      </p:sp>
      <p:sp>
        <p:nvSpPr>
          <p:cNvPr id="19" name="Text 17"/>
          <p:cNvSpPr txBox="1"/>
          <p:nvPr/>
        </p:nvSpPr>
        <p:spPr>
          <a:xfrm>
            <a:off x="548640" y="4023360"/>
            <a:ext cx="8046720" cy="457200"/>
          </a:xfrm>
          <a:prstGeom prst="rect">
            <a:avLst/>
          </a:prstGeom>
          <a:noFill/>
          <a:ln/>
        </p:spPr>
        <p:txBody>
          <a:bodyPr wrap="square" lIns="0" tIns="0" rIns="0" bIns="0" rtlCol="0" anchor="ctr"/>
          <a:lstStyle/>
          <a:p>
            <a:pPr indent="0" marL="0">
              <a:buNone/>
            </a:pPr>
            <a:r>
              <a:rPr lang="en-US" sz="1400" dirty="0">
                <a:solidFill>
                  <a:schemeClr val="accent4"/>
                </a:solidFill>
              </a:rPr>
              <a:t>Stack: vanilla JS client, Node.js 20 and Express, JWT login with bcrypt, MongoDB Atlas</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8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From free-tier hosting to AWS</a:t>
            </a:r>
            <a:endParaRPr lang="en-US" sz="3000" dirty="0"/>
          </a:p>
        </p:txBody>
      </p:sp>
      <p:sp>
        <p:nvSpPr>
          <p:cNvPr id="3" name="before"/>
          <p:cNvSpPr/>
          <p:nvPr/>
        </p:nvSpPr>
        <p:spPr>
          <a:xfrm>
            <a:off x="548640" y="1280160"/>
            <a:ext cx="3840480" cy="2926080"/>
          </a:xfrm>
          <a:prstGeom prst="roundRect">
            <a:avLst>
              <a:gd name="adj" fmla="val 2500"/>
            </a:avLst>
          </a:prstGeom>
          <a:solidFill>
            <a:schemeClr val="bg2"/>
          </a:solidFill>
          <a:ln w="6350">
            <a:solidFill>
              <a:schemeClr val="bg2"/>
            </a:solidFill>
            <a:prstDash val="solid"/>
          </a:ln>
        </p:spPr>
      </p:sp>
      <p:sp>
        <p:nvSpPr>
          <p:cNvPr id="4" name="after"/>
          <p:cNvSpPr/>
          <p:nvPr/>
        </p:nvSpPr>
        <p:spPr>
          <a:xfrm>
            <a:off x="4754880" y="1280160"/>
            <a:ext cx="3840480" cy="2926080"/>
          </a:xfrm>
          <a:prstGeom prst="roundRect">
            <a:avLst>
              <a:gd name="adj" fmla="val 2500"/>
            </a:avLst>
          </a:prstGeom>
          <a:solidFill>
            <a:schemeClr val="bg2"/>
          </a:solidFill>
          <a:ln w="6350">
            <a:solidFill>
              <a:schemeClr val="bg2"/>
            </a:solidFill>
            <a:prstDash val="solid"/>
          </a:ln>
        </p:spPr>
      </p:sp>
      <p:sp>
        <p:nvSpPr>
          <p:cNvPr id="5" name="Text 3"/>
          <p:cNvSpPr txBox="1"/>
          <p:nvPr/>
        </p:nvSpPr>
        <p:spPr>
          <a:xfrm>
            <a:off x="777240" y="1417320"/>
            <a:ext cx="3383280" cy="365760"/>
          </a:xfrm>
          <a:prstGeom prst="rect">
            <a:avLst/>
          </a:prstGeom>
          <a:noFill/>
          <a:ln/>
        </p:spPr>
        <p:txBody>
          <a:bodyPr wrap="square" lIns="0" tIns="0" rIns="0" bIns="0" rtlCol="0" anchor="ctr"/>
          <a:lstStyle/>
          <a:p>
            <a:pPr indent="0" marL="0">
              <a:buNone/>
            </a:pPr>
            <a:r>
              <a:rPr lang="en-US" sz="2000" b="1" dirty="0">
                <a:solidFill>
                  <a:schemeClr val="accent4"/>
                </a:solidFill>
              </a:rPr>
              <a:t>Before</a:t>
            </a:r>
            <a:endParaRPr lang="en-US" sz="2000" dirty="0"/>
          </a:p>
        </p:txBody>
      </p:sp>
      <p:sp>
        <p:nvSpPr>
          <p:cNvPr id="6" name="Text 4"/>
          <p:cNvSpPr txBox="1"/>
          <p:nvPr/>
        </p:nvSpPr>
        <p:spPr>
          <a:xfrm>
            <a:off x="777240" y="1920240"/>
            <a:ext cx="338328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Frontend on Netlify</a:t>
            </a:r>
            <a:endParaRPr lang="en-US" sz="1600" dirty="0"/>
          </a:p>
          <a:p>
            <a:pPr marL="342900" indent="-342900">
              <a:spcAft>
                <a:spcPts val="800"/>
              </a:spcAft>
              <a:buSzPct val="100000"/>
              <a:buChar char="•"/>
            </a:pPr>
            <a:r>
              <a:rPr lang="en-US" sz="1600" dirty="0">
                <a:solidFill>
                  <a:schemeClr val="tx1"/>
                </a:solidFill>
              </a:rPr>
              <a:t>API on Render (sleeps, slow first load)</a:t>
            </a:r>
            <a:endParaRPr lang="en-US" sz="1600" dirty="0"/>
          </a:p>
          <a:p>
            <a:pPr marL="342900" indent="-342900">
              <a:spcAft>
                <a:spcPts val="800"/>
              </a:spcAft>
              <a:buSzPct val="100000"/>
              <a:buChar char="•"/>
            </a:pPr>
            <a:r>
              <a:rPr lang="en-US" sz="1600" dirty="0">
                <a:solidFill>
                  <a:schemeClr val="tx1"/>
                </a:solidFill>
              </a:rPr>
              <a:t>Database on MongoDB Atlas</a:t>
            </a:r>
            <a:endParaRPr lang="en-US" sz="1600" dirty="0"/>
          </a:p>
        </p:txBody>
      </p:sp>
      <p:sp>
        <p:nvSpPr>
          <p:cNvPr id="7" name="Text 5"/>
          <p:cNvSpPr txBox="1"/>
          <p:nvPr/>
        </p:nvSpPr>
        <p:spPr>
          <a:xfrm>
            <a:off x="4983480" y="1417320"/>
            <a:ext cx="3383280" cy="365760"/>
          </a:xfrm>
          <a:prstGeom prst="rect">
            <a:avLst/>
          </a:prstGeom>
          <a:noFill/>
          <a:ln/>
        </p:spPr>
        <p:txBody>
          <a:bodyPr wrap="square" lIns="0" tIns="0" rIns="0" bIns="0" rtlCol="0" anchor="ctr"/>
          <a:lstStyle/>
          <a:p>
            <a:pPr indent="0" marL="0">
              <a:buNone/>
            </a:pPr>
            <a:r>
              <a:rPr lang="en-US" sz="2000" b="1" dirty="0">
                <a:solidFill>
                  <a:schemeClr val="accent1"/>
                </a:solidFill>
              </a:rPr>
              <a:t>Now</a:t>
            </a:r>
            <a:endParaRPr lang="en-US" sz="2000" dirty="0"/>
          </a:p>
        </p:txBody>
      </p:sp>
      <p:sp>
        <p:nvSpPr>
          <p:cNvPr id="8" name="Text 6"/>
          <p:cNvSpPr txBox="1"/>
          <p:nvPr/>
        </p:nvSpPr>
        <p:spPr>
          <a:xfrm>
            <a:off x="4983480" y="1920240"/>
            <a:ext cx="338328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One EC2 server runs nginx and the API</a:t>
            </a:r>
            <a:endParaRPr lang="en-US" sz="1600" dirty="0"/>
          </a:p>
          <a:p>
            <a:pPr marL="342900" indent="-342900">
              <a:spcAft>
                <a:spcPts val="800"/>
              </a:spcAft>
              <a:buSzPct val="100000"/>
              <a:buChar char="•"/>
            </a:pPr>
            <a:r>
              <a:rPr lang="en-US" sz="1600" dirty="0">
                <a:solidFill>
                  <a:schemeClr val="tx1"/>
                </a:solidFill>
              </a:rPr>
              <a:t>Always on, fixed Elastic IP</a:t>
            </a:r>
            <a:endParaRPr lang="en-US" sz="1600" dirty="0"/>
          </a:p>
          <a:p>
            <a:pPr marL="342900" indent="-342900">
              <a:spcAft>
                <a:spcPts val="800"/>
              </a:spcAft>
              <a:buSzPct val="100000"/>
              <a:buChar char="•"/>
            </a:pPr>
            <a:r>
              <a:rPr lang="en-US" sz="1600" dirty="0">
                <a:solidFill>
                  <a:schemeClr val="tx1"/>
                </a:solidFill>
              </a:rPr>
              <a:t>Everything defined as CloudFormation code</a:t>
            </a:r>
            <a:endParaRPr lang="en-US" sz="1600" dirty="0"/>
          </a:p>
          <a:p>
            <a:pPr marL="342900" indent="-342900">
              <a:spcAft>
                <a:spcPts val="800"/>
              </a:spcAft>
              <a:buSzPct val="100000"/>
              <a:buChar char="•"/>
            </a:pPr>
            <a:r>
              <a:rPr lang="en-US" sz="1600" dirty="0">
                <a:solidFill>
                  <a:schemeClr val="tx1"/>
                </a:solidFill>
              </a:rPr>
              <a:t>Secrets in SSM Parameter Store</a:t>
            </a:r>
            <a:endParaRPr lang="en-US" sz="1600" dirty="0"/>
          </a:p>
        </p:txBody>
      </p:sp>
      <p:sp>
        <p:nvSpPr>
          <p:cNvPr id="9" name="arrow"/>
          <p:cNvSpPr/>
          <p:nvPr/>
        </p:nvSpPr>
        <p:spPr>
          <a:xfrm>
            <a:off x="4416552" y="2560320"/>
            <a:ext cx="310896" cy="365760"/>
          </a:xfrm>
          <a:prstGeom prst="rightArrow">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8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AWS architecture</a:t>
            </a:r>
            <a:endParaRPr lang="en-US" sz="3000" dirty="0"/>
          </a:p>
        </p:txBody>
      </p:sp>
      <p:sp>
        <p:nvSpPr>
          <p:cNvPr id="3" name="vpc"/>
          <p:cNvSpPr/>
          <p:nvPr/>
        </p:nvSpPr>
        <p:spPr>
          <a:xfrm>
            <a:off x="3291840" y="1188720"/>
            <a:ext cx="3749040" cy="3429000"/>
          </a:xfrm>
          <a:prstGeom prst="roundRect">
            <a:avLst>
              <a:gd name="adj" fmla="val 2133"/>
            </a:avLst>
          </a:prstGeom>
          <a:solidFill>
            <a:schemeClr val="bg2"/>
          </a:solidFill>
          <a:ln w="15875">
            <a:solidFill>
              <a:schemeClr val="accent3"/>
            </a:solidFill>
            <a:prstDash val="dash"/>
          </a:ln>
        </p:spPr>
      </p:sp>
      <p:sp>
        <p:nvSpPr>
          <p:cNvPr id="4" name="Text 2"/>
          <p:cNvSpPr txBox="1"/>
          <p:nvPr/>
        </p:nvSpPr>
        <p:spPr>
          <a:xfrm>
            <a:off x="3429000" y="1216152"/>
            <a:ext cx="3474720" cy="274320"/>
          </a:xfrm>
          <a:prstGeom prst="rect">
            <a:avLst/>
          </a:prstGeom>
          <a:noFill/>
          <a:ln/>
        </p:spPr>
        <p:txBody>
          <a:bodyPr wrap="square" lIns="0" tIns="0" rIns="0" bIns="0" rtlCol="0" anchor="ctr"/>
          <a:lstStyle/>
          <a:p>
            <a:pPr indent="0" marL="0">
              <a:buNone/>
            </a:pPr>
            <a:r>
              <a:rPr lang="en-US" sz="1100" dirty="0">
                <a:solidFill>
                  <a:schemeClr val="accent3"/>
                </a:solidFill>
              </a:rPr>
              <a:t>VPC 10.20.0.0/16, public subnet</a:t>
            </a:r>
            <a:endParaRPr lang="en-US" sz="1100" dirty="0"/>
          </a:p>
        </p:txBody>
      </p:sp>
      <p:sp>
        <p:nvSpPr>
          <p:cNvPr id="5" name="browser"/>
          <p:cNvSpPr txBox="1"/>
          <p:nvPr/>
        </p:nvSpPr>
        <p:spPr>
          <a:xfrm>
            <a:off x="457200" y="2011680"/>
            <a:ext cx="1188720" cy="822960"/>
          </a:xfrm>
          <a:prstGeom prst="roundRect">
            <a:avLst>
              <a:gd name="adj" fmla="val 6667"/>
            </a:avLst>
          </a:prstGeom>
          <a:solidFill>
            <a:schemeClr val="accent4"/>
          </a:solidFill>
          <a:ln/>
        </p:spPr>
        <p:txBody>
          <a:bodyPr wrap="square" lIns="25400" tIns="25400" rIns="25400" bIns="25400" rtlCol="0" anchor="ctr"/>
          <a:lstStyle/>
          <a:p>
            <a:pPr algn="ctr" indent="0" marL="0">
              <a:buNone/>
            </a:pPr>
            <a:r>
              <a:rPr lang="en-US" sz="1200" b="1" dirty="0">
                <a:solidFill>
                  <a:schemeClr val="bg1"/>
                </a:solidFill>
              </a:rPr>
              <a:t>Browser</a:t>
            </a:r>
            <a:endParaRPr lang="en-US" sz="1200" dirty="0"/>
          </a:p>
        </p:txBody>
      </p:sp>
      <p:sp>
        <p:nvSpPr>
          <p:cNvPr id="6" name="eip"/>
          <p:cNvSpPr txBox="1"/>
          <p:nvPr/>
        </p:nvSpPr>
        <p:spPr>
          <a:xfrm>
            <a:off x="1874520" y="2011680"/>
            <a:ext cx="1188720" cy="822960"/>
          </a:xfrm>
          <a:prstGeom prst="roundRect">
            <a:avLst>
              <a:gd name="adj" fmla="val 6667"/>
            </a:avLst>
          </a:prstGeom>
          <a:solidFill>
            <a:schemeClr val="accent1"/>
          </a:solidFill>
          <a:ln/>
        </p:spPr>
        <p:txBody>
          <a:bodyPr wrap="square" lIns="25400" tIns="25400" rIns="25400" bIns="25400" rtlCol="0" anchor="ctr"/>
          <a:lstStyle/>
          <a:p>
            <a:pPr algn="ctr" indent="0" marL="0">
              <a:buNone/>
            </a:pPr>
            <a:r>
              <a:rPr lang="en-US" sz="1100" b="1" dirty="0">
                <a:solidFill>
                  <a:schemeClr val="tx2"/>
                </a:solidFill>
              </a:rPr>
              <a:t>Elastic IP 3.7.158.104</a:t>
            </a:r>
            <a:endParaRPr lang="en-US" sz="1100" dirty="0"/>
          </a:p>
        </p:txBody>
      </p:sp>
      <p:sp>
        <p:nvSpPr>
          <p:cNvPr id="7" name="ec2"/>
          <p:cNvSpPr/>
          <p:nvPr/>
        </p:nvSpPr>
        <p:spPr>
          <a:xfrm>
            <a:off x="3474720" y="1600200"/>
            <a:ext cx="3383280" cy="1783080"/>
          </a:xfrm>
          <a:prstGeom prst="roundRect">
            <a:avLst>
              <a:gd name="adj" fmla="val 3077"/>
            </a:avLst>
          </a:prstGeom>
          <a:solidFill>
            <a:schemeClr val="bg1"/>
          </a:solidFill>
          <a:ln w="12700">
            <a:solidFill>
              <a:schemeClr val="tx2"/>
            </a:solidFill>
            <a:prstDash val="solid"/>
          </a:ln>
        </p:spPr>
      </p:sp>
      <p:sp>
        <p:nvSpPr>
          <p:cNvPr id="8" name="Text 6"/>
          <p:cNvSpPr txBox="1"/>
          <p:nvPr/>
        </p:nvSpPr>
        <p:spPr>
          <a:xfrm>
            <a:off x="3566160" y="1627632"/>
            <a:ext cx="3200400" cy="274320"/>
          </a:xfrm>
          <a:prstGeom prst="rect">
            <a:avLst/>
          </a:prstGeom>
          <a:noFill/>
          <a:ln/>
        </p:spPr>
        <p:txBody>
          <a:bodyPr wrap="square" lIns="0" tIns="0" rIns="0" bIns="0" rtlCol="0" anchor="ctr"/>
          <a:lstStyle/>
          <a:p>
            <a:pPr indent="0" marL="0">
              <a:buNone/>
            </a:pPr>
            <a:r>
              <a:rPr lang="en-US" sz="1100" b="1" dirty="0">
                <a:solidFill>
                  <a:schemeClr val="tx2"/>
                </a:solidFill>
              </a:rPr>
              <a:t>EC2 t3.micro, Amazon Linux 2023</a:t>
            </a:r>
            <a:endParaRPr lang="en-US" sz="1100" dirty="0"/>
          </a:p>
        </p:txBody>
      </p:sp>
      <p:sp>
        <p:nvSpPr>
          <p:cNvPr id="9" name="nginx"/>
          <p:cNvSpPr txBox="1"/>
          <p:nvPr/>
        </p:nvSpPr>
        <p:spPr>
          <a:xfrm>
            <a:off x="3611880" y="2011680"/>
            <a:ext cx="1417320" cy="1188720"/>
          </a:xfrm>
          <a:prstGeom prst="roundRect">
            <a:avLst>
              <a:gd name="adj" fmla="val 4615"/>
            </a:avLst>
          </a:prstGeom>
          <a:solidFill>
            <a:schemeClr val="accent3"/>
          </a:solidFill>
          <a:ln/>
        </p:spPr>
        <p:txBody>
          <a:bodyPr wrap="square" lIns="25400" tIns="25400" rIns="25400" bIns="25400" rtlCol="0" anchor="ctr"/>
          <a:lstStyle/>
          <a:p>
            <a:pPr algn="ctr" indent="0" marL="0">
              <a:buNone/>
            </a:pPr>
            <a:r>
              <a:rPr lang="en-US" sz="1100" b="1" dirty="0">
                <a:solidFill>
                  <a:schemeClr val="bg1"/>
                </a:solidFill>
              </a:rPr>
              <a:t>nginx</a:t>
            </a:r>
            <a:endParaRPr lang="en-US" sz="1100" dirty="0"/>
          </a:p>
          <a:p>
            <a:pPr algn="ctr" indent="0" marL="0">
              <a:buNone/>
            </a:pPr>
            <a:r>
              <a:rPr lang="en-US" sz="1100" b="1" dirty="0">
                <a:solidFill>
                  <a:schemeClr val="bg1"/>
                </a:solidFill>
              </a:rPr>
              <a:t>static site + /api proxy</a:t>
            </a:r>
            <a:endParaRPr lang="en-US" sz="1100" dirty="0"/>
          </a:p>
        </p:txBody>
      </p:sp>
      <p:sp>
        <p:nvSpPr>
          <p:cNvPr id="10" name="node"/>
          <p:cNvSpPr txBox="1"/>
          <p:nvPr/>
        </p:nvSpPr>
        <p:spPr>
          <a:xfrm>
            <a:off x="5303520" y="2011680"/>
            <a:ext cx="1417320" cy="1188720"/>
          </a:xfrm>
          <a:prstGeom prst="roundRect">
            <a:avLst>
              <a:gd name="adj" fmla="val 4615"/>
            </a:avLst>
          </a:prstGeom>
          <a:solidFill>
            <a:schemeClr val="accent5"/>
          </a:solidFill>
          <a:ln/>
        </p:spPr>
        <p:txBody>
          <a:bodyPr wrap="square" lIns="25400" tIns="25400" rIns="25400" bIns="25400" rtlCol="0" anchor="ctr"/>
          <a:lstStyle/>
          <a:p>
            <a:pPr algn="ctr" indent="0" marL="0">
              <a:buNone/>
            </a:pPr>
            <a:r>
              <a:rPr lang="en-US" sz="1100" b="1" dirty="0">
                <a:solidFill>
                  <a:schemeClr val="bg1"/>
                </a:solidFill>
              </a:rPr>
              <a:t>Node + Express</a:t>
            </a:r>
            <a:endParaRPr lang="en-US" sz="1100" dirty="0"/>
          </a:p>
          <a:p>
            <a:pPr algn="ctr" indent="0" marL="0">
              <a:buNone/>
            </a:pPr>
            <a:r>
              <a:rPr lang="en-US" sz="1100" b="1" dirty="0">
                <a:solidFill>
                  <a:schemeClr val="bg1"/>
                </a:solidFill>
              </a:rPr>
              <a:t>systemd, port 3000</a:t>
            </a:r>
            <a:endParaRPr lang="en-US" sz="1100" dirty="0"/>
          </a:p>
        </p:txBody>
      </p:sp>
      <p:sp>
        <p:nvSpPr>
          <p:cNvPr id="11" name="atlas"/>
          <p:cNvSpPr txBox="1"/>
          <p:nvPr/>
        </p:nvSpPr>
        <p:spPr>
          <a:xfrm>
            <a:off x="7360920" y="2011680"/>
            <a:ext cx="1325880" cy="822960"/>
          </a:xfrm>
          <a:prstGeom prst="roundRect">
            <a:avLst>
              <a:gd name="adj" fmla="val 6667"/>
            </a:avLst>
          </a:prstGeom>
          <a:solidFill>
            <a:schemeClr val="accent2"/>
          </a:solidFill>
          <a:ln/>
        </p:spPr>
        <p:txBody>
          <a:bodyPr wrap="square" lIns="25400" tIns="25400" rIns="25400" bIns="25400" rtlCol="0" anchor="ctr"/>
          <a:lstStyle/>
          <a:p>
            <a:pPr algn="ctr" indent="0" marL="0">
              <a:buNone/>
            </a:pPr>
            <a:r>
              <a:rPr lang="en-US" sz="1200" b="1" dirty="0">
                <a:solidFill>
                  <a:schemeClr val="bg1"/>
                </a:solidFill>
              </a:rPr>
              <a:t>MongoDB Atlas</a:t>
            </a:r>
            <a:endParaRPr lang="en-US" sz="1200" dirty="0"/>
          </a:p>
        </p:txBody>
      </p:sp>
      <p:sp>
        <p:nvSpPr>
          <p:cNvPr id="12" name="ssm"/>
          <p:cNvSpPr txBox="1"/>
          <p:nvPr/>
        </p:nvSpPr>
        <p:spPr>
          <a:xfrm>
            <a:off x="3474720" y="3611880"/>
            <a:ext cx="1600200" cy="731520"/>
          </a:xfrm>
          <a:prstGeom prst="roundRect">
            <a:avLst>
              <a:gd name="adj" fmla="val 7500"/>
            </a:avLst>
          </a:prstGeom>
          <a:solidFill>
            <a:schemeClr val="tx2"/>
          </a:solidFill>
          <a:ln/>
        </p:spPr>
        <p:txBody>
          <a:bodyPr wrap="square" lIns="25400" tIns="25400" rIns="25400" bIns="25400" rtlCol="0" anchor="ctr"/>
          <a:lstStyle/>
          <a:p>
            <a:pPr algn="ctr" indent="0" marL="0">
              <a:buNone/>
            </a:pPr>
            <a:r>
              <a:rPr lang="en-US" sz="1100" b="1" dirty="0">
                <a:solidFill>
                  <a:schemeClr val="bg1"/>
                </a:solidFill>
              </a:rPr>
              <a:t>SSM Parameter Store</a:t>
            </a:r>
            <a:endParaRPr lang="en-US" sz="1100" dirty="0"/>
          </a:p>
          <a:p>
            <a:pPr algn="ctr" indent="0" marL="0">
              <a:buNone/>
            </a:pPr>
            <a:r>
              <a:rPr lang="en-US" sz="1100" b="1" dirty="0">
                <a:solidFill>
                  <a:schemeClr val="bg1"/>
                </a:solidFill>
              </a:rPr>
              <a:t>(secrets)</a:t>
            </a:r>
            <a:endParaRPr lang="en-US" sz="1100" dirty="0"/>
          </a:p>
        </p:txBody>
      </p:sp>
      <p:sp>
        <p:nvSpPr>
          <p:cNvPr id="13" name="iam"/>
          <p:cNvSpPr txBox="1"/>
          <p:nvPr/>
        </p:nvSpPr>
        <p:spPr>
          <a:xfrm>
            <a:off x="5257800" y="3611880"/>
            <a:ext cx="1600200" cy="731520"/>
          </a:xfrm>
          <a:prstGeom prst="roundRect">
            <a:avLst>
              <a:gd name="adj" fmla="val 7500"/>
            </a:avLst>
          </a:prstGeom>
          <a:solidFill>
            <a:schemeClr val="tx2"/>
          </a:solidFill>
          <a:ln/>
        </p:spPr>
        <p:txBody>
          <a:bodyPr wrap="square" lIns="25400" tIns="25400" rIns="25400" bIns="25400" rtlCol="0" anchor="ctr"/>
          <a:lstStyle/>
          <a:p>
            <a:pPr algn="ctr" indent="0" marL="0">
              <a:buNone/>
            </a:pPr>
            <a:r>
              <a:rPr lang="en-US" sz="1100" b="1" dirty="0">
                <a:solidFill>
                  <a:schemeClr val="bg1"/>
                </a:solidFill>
              </a:rPr>
              <a:t>IAM role</a:t>
            </a:r>
            <a:endParaRPr lang="en-US" sz="1100" dirty="0"/>
          </a:p>
          <a:p>
            <a:pPr algn="ctr" indent="0" marL="0">
              <a:buNone/>
            </a:pPr>
            <a:r>
              <a:rPr lang="en-US" sz="1100" b="1" dirty="0">
                <a:solidFill>
                  <a:schemeClr val="bg1"/>
                </a:solidFill>
              </a:rPr>
              <a:t>(read 2 params)</a:t>
            </a:r>
            <a:endParaRPr lang="en-US" sz="1100" dirty="0"/>
          </a:p>
        </p:txBody>
      </p:sp>
      <p:sp>
        <p:nvSpPr>
          <p:cNvPr id="14" name="a1"/>
          <p:cNvSpPr/>
          <p:nvPr/>
        </p:nvSpPr>
        <p:spPr>
          <a:xfrm>
            <a:off x="1645920" y="2423160"/>
            <a:ext cx="228600" cy="0"/>
          </a:xfrm>
          <a:prstGeom prst="line">
            <a:avLst/>
          </a:prstGeom>
          <a:noFill/>
          <a:ln w="19050">
            <a:solidFill>
              <a:schemeClr val="tx2"/>
            </a:solidFill>
            <a:prstDash val="solid"/>
            <a:tailEnd type="triangle"/>
          </a:ln>
        </p:spPr>
      </p:sp>
      <p:sp>
        <p:nvSpPr>
          <p:cNvPr id="15" name="a2"/>
          <p:cNvSpPr/>
          <p:nvPr/>
        </p:nvSpPr>
        <p:spPr>
          <a:xfrm>
            <a:off x="3063240" y="2423160"/>
            <a:ext cx="548640" cy="0"/>
          </a:xfrm>
          <a:prstGeom prst="line">
            <a:avLst/>
          </a:prstGeom>
          <a:noFill/>
          <a:ln w="19050">
            <a:solidFill>
              <a:schemeClr val="tx2"/>
            </a:solidFill>
            <a:prstDash val="solid"/>
            <a:tailEnd type="triangle"/>
          </a:ln>
        </p:spPr>
      </p:sp>
      <p:sp>
        <p:nvSpPr>
          <p:cNvPr id="16" name="a3"/>
          <p:cNvSpPr/>
          <p:nvPr/>
        </p:nvSpPr>
        <p:spPr>
          <a:xfrm>
            <a:off x="5029200" y="2606040"/>
            <a:ext cx="274320" cy="0"/>
          </a:xfrm>
          <a:prstGeom prst="line">
            <a:avLst/>
          </a:prstGeom>
          <a:noFill/>
          <a:ln w="19050">
            <a:solidFill>
              <a:schemeClr val="tx2"/>
            </a:solidFill>
            <a:prstDash val="solid"/>
            <a:tailEnd type="triangle"/>
          </a:ln>
        </p:spPr>
      </p:sp>
      <p:sp>
        <p:nvSpPr>
          <p:cNvPr id="17" name="a4"/>
          <p:cNvSpPr/>
          <p:nvPr/>
        </p:nvSpPr>
        <p:spPr>
          <a:xfrm>
            <a:off x="6720840" y="2423160"/>
            <a:ext cx="640080" cy="0"/>
          </a:xfrm>
          <a:prstGeom prst="line">
            <a:avLst/>
          </a:prstGeom>
          <a:noFill/>
          <a:ln w="19050">
            <a:solidFill>
              <a:schemeClr val="tx2"/>
            </a:solidFill>
            <a:prstDash val="solid"/>
            <a:tailEnd type="triangle"/>
          </a:ln>
        </p:spPr>
      </p:sp>
      <p:sp>
        <p:nvSpPr>
          <p:cNvPr id="18" name="a5"/>
          <p:cNvSpPr/>
          <p:nvPr/>
        </p:nvSpPr>
        <p:spPr>
          <a:xfrm flipV="1">
            <a:off x="4297680" y="3200400"/>
            <a:ext cx="0" cy="411480"/>
          </a:xfrm>
          <a:prstGeom prst="line">
            <a:avLst/>
          </a:prstGeom>
          <a:noFill/>
          <a:ln w="19050">
            <a:solidFill>
              <a:schemeClr val="tx2"/>
            </a:solidFill>
            <a:prstDash val="solid"/>
            <a:tailEnd type="triangle"/>
          </a:ln>
        </p:spPr>
      </p:sp>
      <p:sp>
        <p:nvSpPr>
          <p:cNvPr id="19" name="Text 17"/>
          <p:cNvSpPr txBox="1"/>
          <p:nvPr/>
        </p:nvSpPr>
        <p:spPr>
          <a:xfrm>
            <a:off x="457200" y="4023360"/>
            <a:ext cx="2743200" cy="457200"/>
          </a:xfrm>
          <a:prstGeom prst="rect">
            <a:avLst/>
          </a:prstGeom>
          <a:noFill/>
          <a:ln/>
        </p:spPr>
        <p:txBody>
          <a:bodyPr wrap="square" lIns="0" tIns="0" rIns="0" bIns="0" rtlCol="0" anchor="ctr"/>
          <a:lstStyle/>
          <a:p>
            <a:pPr indent="0" marL="0">
              <a:buNone/>
            </a:pPr>
            <a:r>
              <a:rPr lang="en-US" sz="1200" dirty="0">
                <a:solidFill>
                  <a:schemeClr val="accent4"/>
                </a:solidFill>
              </a:rPr>
              <a:t>Security group: TCP 80 only, no SSH</a:t>
            </a:r>
            <a:endParaRPr lang="en-US" sz="12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8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AWS services used</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914400"/>
        </p:xfrm>
        <a:graphic>
          <a:graphicData uri="http://schemas.openxmlformats.org/drawingml/2006/table">
            <a:tbl>
              <a:tblPr/>
              <a:tblGrid>
                <a:gridCol w="2651760"/>
                <a:gridCol w="5394960"/>
              </a:tblGrid>
              <a:tr h="457200">
                <a:tc>
                  <a:txBody>
                    <a:bodyPr/>
                    <a:lstStyle/>
                    <a:p>
                      <a:pPr indent="0" marL="0">
                        <a:buNone/>
                      </a:pPr>
                      <a:r>
                        <a:rPr lang="en-US" sz="1400" b="1" dirty="0">
                          <a:solidFill>
                            <a:schemeClr val="bg1"/>
                          </a:solidFill>
                        </a:rPr>
                        <a:t>Service</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Role in this project</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tx1"/>
                          </a:solidFill>
                        </a:rPr>
                        <a:t>CloudFormation</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template builds and updates everything</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VPC, subnet, gateway</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Dedicated network, since no default VPC existed</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EC2 and Elastic IP</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Runs nginx and the API on a fixed address</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Security group</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Only port 80 open, no SSH</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SSM Parameter Store</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Encrypted DB string and JWT secret</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IAM and Session Manager</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Least privilege access, shell without keys</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8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Why each choice was made</a:t>
            </a:r>
            <a:endParaRPr lang="en-US" sz="3000" dirty="0"/>
          </a:p>
        </p:txBody>
      </p:sp>
      <p:sp>
        <p:nvSpPr>
          <p:cNvPr id="3" name="wy0"/>
          <p:cNvSpPr/>
          <p:nvPr/>
        </p:nvSpPr>
        <p:spPr>
          <a:xfrm>
            <a:off x="548640" y="1188720"/>
            <a:ext cx="3931920" cy="1005840"/>
          </a:xfrm>
          <a:prstGeom prst="roundRect">
            <a:avLst>
              <a:gd name="adj" fmla="val 7273"/>
            </a:avLst>
          </a:prstGeom>
          <a:solidFill>
            <a:schemeClr val="bg2"/>
          </a:solidFill>
          <a:ln w="6350">
            <a:solidFill>
              <a:schemeClr val="bg2"/>
            </a:solidFill>
            <a:prstDash val="solid"/>
          </a:ln>
        </p:spPr>
      </p:sp>
      <p:sp>
        <p:nvSpPr>
          <p:cNvPr id="4" name="wn0"/>
          <p:cNvSpPr txBox="1"/>
          <p:nvPr/>
        </p:nvSpPr>
        <p:spPr>
          <a:xfrm>
            <a:off x="685800" y="12984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188720" y="1280160"/>
            <a:ext cx="3200400" cy="384048"/>
          </a:xfrm>
          <a:prstGeom prst="rect">
            <a:avLst/>
          </a:prstGeom>
          <a:noFill/>
          <a:ln/>
        </p:spPr>
        <p:txBody>
          <a:bodyPr wrap="square" lIns="0" tIns="0" rIns="0" bIns="0" rtlCol="0" anchor="ctr"/>
          <a:lstStyle/>
          <a:p>
            <a:pPr indent="0" marL="0">
              <a:buNone/>
            </a:pPr>
            <a:r>
              <a:rPr lang="en-US" sz="1600" b="1" dirty="0">
                <a:solidFill>
                  <a:schemeClr val="tx2"/>
                </a:solidFill>
              </a:rPr>
              <a:t>EC2, not Lambda</a:t>
            </a:r>
            <a:endParaRPr lang="en-US" sz="1600" dirty="0"/>
          </a:p>
        </p:txBody>
      </p:sp>
      <p:sp>
        <p:nvSpPr>
          <p:cNvPr id="6" name="Text 4"/>
          <p:cNvSpPr txBox="1"/>
          <p:nvPr/>
        </p:nvSpPr>
        <p:spPr>
          <a:xfrm>
            <a:off x="1188720" y="1664208"/>
            <a:ext cx="3200400" cy="475488"/>
          </a:xfrm>
          <a:prstGeom prst="rect">
            <a:avLst/>
          </a:prstGeom>
          <a:noFill/>
          <a:ln/>
        </p:spPr>
        <p:txBody>
          <a:bodyPr wrap="square" lIns="0" tIns="0" rIns="0" bIns="0" rtlCol="0" anchor="t"/>
          <a:lstStyle/>
          <a:p>
            <a:pPr indent="0" marL="0">
              <a:buNone/>
            </a:pPr>
            <a:r>
              <a:rPr lang="en-US" sz="1400" dirty="0">
                <a:solidFill>
                  <a:schemeClr val="tx1"/>
                </a:solidFill>
              </a:rPr>
              <a:t>Long-running Express server with a persistent DB connection</a:t>
            </a:r>
            <a:endParaRPr lang="en-US" sz="1400" dirty="0"/>
          </a:p>
        </p:txBody>
      </p:sp>
      <p:sp>
        <p:nvSpPr>
          <p:cNvPr id="7" name="wy1"/>
          <p:cNvSpPr/>
          <p:nvPr/>
        </p:nvSpPr>
        <p:spPr>
          <a:xfrm>
            <a:off x="4663440" y="1188720"/>
            <a:ext cx="3931920" cy="1005840"/>
          </a:xfrm>
          <a:prstGeom prst="roundRect">
            <a:avLst>
              <a:gd name="adj" fmla="val 7273"/>
            </a:avLst>
          </a:prstGeom>
          <a:solidFill>
            <a:schemeClr val="bg2"/>
          </a:solidFill>
          <a:ln w="6350">
            <a:solidFill>
              <a:schemeClr val="bg2"/>
            </a:solidFill>
            <a:prstDash val="solid"/>
          </a:ln>
        </p:spPr>
      </p:sp>
      <p:sp>
        <p:nvSpPr>
          <p:cNvPr id="8" name="wn1"/>
          <p:cNvSpPr txBox="1"/>
          <p:nvPr/>
        </p:nvSpPr>
        <p:spPr>
          <a:xfrm>
            <a:off x="4800600" y="12984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5303520" y="1280160"/>
            <a:ext cx="3200400" cy="384048"/>
          </a:xfrm>
          <a:prstGeom prst="rect">
            <a:avLst/>
          </a:prstGeom>
          <a:noFill/>
          <a:ln/>
        </p:spPr>
        <p:txBody>
          <a:bodyPr wrap="square" lIns="0" tIns="0" rIns="0" bIns="0" rtlCol="0" anchor="ctr"/>
          <a:lstStyle/>
          <a:p>
            <a:pPr indent="0" marL="0">
              <a:buNone/>
            </a:pPr>
            <a:r>
              <a:rPr lang="en-US" sz="1600" b="1" dirty="0">
                <a:solidFill>
                  <a:schemeClr val="tx2"/>
                </a:solidFill>
              </a:rPr>
              <a:t>nginx in front of Node</a:t>
            </a:r>
            <a:endParaRPr lang="en-US" sz="1600" dirty="0"/>
          </a:p>
        </p:txBody>
      </p:sp>
      <p:sp>
        <p:nvSpPr>
          <p:cNvPr id="10" name="Text 8"/>
          <p:cNvSpPr txBox="1"/>
          <p:nvPr/>
        </p:nvSpPr>
        <p:spPr>
          <a:xfrm>
            <a:off x="5303520" y="1664208"/>
            <a:ext cx="3200400" cy="475488"/>
          </a:xfrm>
          <a:prstGeom prst="rect">
            <a:avLst/>
          </a:prstGeom>
          <a:noFill/>
          <a:ln/>
        </p:spPr>
        <p:txBody>
          <a:bodyPr wrap="square" lIns="0" tIns="0" rIns="0" bIns="0" rtlCol="0" anchor="t"/>
          <a:lstStyle/>
          <a:p>
            <a:pPr indent="0" marL="0">
              <a:buNone/>
            </a:pPr>
            <a:r>
              <a:rPr lang="en-US" sz="1400" dirty="0">
                <a:solidFill>
                  <a:schemeClr val="tx1"/>
                </a:solidFill>
              </a:rPr>
              <a:t>One origin, no CORS, Node stays on a private port</a:t>
            </a:r>
            <a:endParaRPr lang="en-US" sz="1400" dirty="0"/>
          </a:p>
        </p:txBody>
      </p:sp>
      <p:sp>
        <p:nvSpPr>
          <p:cNvPr id="11" name="wy2"/>
          <p:cNvSpPr/>
          <p:nvPr/>
        </p:nvSpPr>
        <p:spPr>
          <a:xfrm>
            <a:off x="548640" y="2331720"/>
            <a:ext cx="3931920" cy="1005840"/>
          </a:xfrm>
          <a:prstGeom prst="roundRect">
            <a:avLst>
              <a:gd name="adj" fmla="val 7273"/>
            </a:avLst>
          </a:prstGeom>
          <a:solidFill>
            <a:schemeClr val="bg2"/>
          </a:solidFill>
          <a:ln w="6350">
            <a:solidFill>
              <a:schemeClr val="bg2"/>
            </a:solidFill>
            <a:prstDash val="solid"/>
          </a:ln>
        </p:spPr>
      </p:sp>
      <p:sp>
        <p:nvSpPr>
          <p:cNvPr id="12" name="wn2"/>
          <p:cNvSpPr txBox="1"/>
          <p:nvPr/>
        </p:nvSpPr>
        <p:spPr>
          <a:xfrm>
            <a:off x="685800" y="24414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188720" y="2423160"/>
            <a:ext cx="3200400" cy="384048"/>
          </a:xfrm>
          <a:prstGeom prst="rect">
            <a:avLst/>
          </a:prstGeom>
          <a:noFill/>
          <a:ln/>
        </p:spPr>
        <p:txBody>
          <a:bodyPr wrap="square" lIns="0" tIns="0" rIns="0" bIns="0" rtlCol="0" anchor="ctr"/>
          <a:lstStyle/>
          <a:p>
            <a:pPr indent="0" marL="0">
              <a:buNone/>
            </a:pPr>
            <a:r>
              <a:rPr lang="en-US" sz="1600" b="1" dirty="0">
                <a:solidFill>
                  <a:schemeClr val="tx2"/>
                </a:solidFill>
              </a:rPr>
              <a:t>SSM and an IAM role</a:t>
            </a:r>
            <a:endParaRPr lang="en-US" sz="1600" dirty="0"/>
          </a:p>
        </p:txBody>
      </p:sp>
      <p:sp>
        <p:nvSpPr>
          <p:cNvPr id="14" name="Text 12"/>
          <p:cNvSpPr txBox="1"/>
          <p:nvPr/>
        </p:nvSpPr>
        <p:spPr>
          <a:xfrm>
            <a:off x="1188720" y="2807208"/>
            <a:ext cx="3200400" cy="475488"/>
          </a:xfrm>
          <a:prstGeom prst="rect">
            <a:avLst/>
          </a:prstGeom>
          <a:noFill/>
          <a:ln/>
        </p:spPr>
        <p:txBody>
          <a:bodyPr wrap="square" lIns="0" tIns="0" rIns="0" bIns="0" rtlCol="0" anchor="t"/>
          <a:lstStyle/>
          <a:p>
            <a:pPr indent="0" marL="0">
              <a:buNone/>
            </a:pPr>
            <a:r>
              <a:rPr lang="en-US" sz="1400" dirty="0">
                <a:solidFill>
                  <a:schemeClr val="tx1"/>
                </a:solidFill>
              </a:rPr>
              <a:t>Secrets never in code, no access keys on the box</a:t>
            </a:r>
            <a:endParaRPr lang="en-US" sz="1400" dirty="0"/>
          </a:p>
        </p:txBody>
      </p:sp>
      <p:sp>
        <p:nvSpPr>
          <p:cNvPr id="15" name="wy3"/>
          <p:cNvSpPr/>
          <p:nvPr/>
        </p:nvSpPr>
        <p:spPr>
          <a:xfrm>
            <a:off x="4663440" y="2331720"/>
            <a:ext cx="3931920" cy="1005840"/>
          </a:xfrm>
          <a:prstGeom prst="roundRect">
            <a:avLst>
              <a:gd name="adj" fmla="val 7273"/>
            </a:avLst>
          </a:prstGeom>
          <a:solidFill>
            <a:schemeClr val="bg2"/>
          </a:solidFill>
          <a:ln w="6350">
            <a:solidFill>
              <a:schemeClr val="bg2"/>
            </a:solidFill>
            <a:prstDash val="solid"/>
          </a:ln>
        </p:spPr>
      </p:sp>
      <p:sp>
        <p:nvSpPr>
          <p:cNvPr id="16" name="wn3"/>
          <p:cNvSpPr txBox="1"/>
          <p:nvPr/>
        </p:nvSpPr>
        <p:spPr>
          <a:xfrm>
            <a:off x="4800600" y="24414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5303520" y="2423160"/>
            <a:ext cx="3200400" cy="384048"/>
          </a:xfrm>
          <a:prstGeom prst="rect">
            <a:avLst/>
          </a:prstGeom>
          <a:noFill/>
          <a:ln/>
        </p:spPr>
        <p:txBody>
          <a:bodyPr wrap="square" lIns="0" tIns="0" rIns="0" bIns="0" rtlCol="0" anchor="ctr"/>
          <a:lstStyle/>
          <a:p>
            <a:pPr indent="0" marL="0">
              <a:buNone/>
            </a:pPr>
            <a:r>
              <a:rPr lang="en-US" sz="1600" b="1" dirty="0">
                <a:solidFill>
                  <a:schemeClr val="tx2"/>
                </a:solidFill>
              </a:rPr>
              <a:t>CloudFormation</a:t>
            </a:r>
            <a:endParaRPr lang="en-US" sz="1600" dirty="0"/>
          </a:p>
        </p:txBody>
      </p:sp>
      <p:sp>
        <p:nvSpPr>
          <p:cNvPr id="18" name="Text 16"/>
          <p:cNvSpPr txBox="1"/>
          <p:nvPr/>
        </p:nvSpPr>
        <p:spPr>
          <a:xfrm>
            <a:off x="5303520" y="2807208"/>
            <a:ext cx="3200400" cy="475488"/>
          </a:xfrm>
          <a:prstGeom prst="rect">
            <a:avLst/>
          </a:prstGeom>
          <a:noFill/>
          <a:ln/>
        </p:spPr>
        <p:txBody>
          <a:bodyPr wrap="square" lIns="0" tIns="0" rIns="0" bIns="0" rtlCol="0" anchor="t"/>
          <a:lstStyle/>
          <a:p>
            <a:pPr indent="0" marL="0">
              <a:buNone/>
            </a:pPr>
            <a:r>
              <a:rPr lang="en-US" sz="1400" dirty="0">
                <a:solidFill>
                  <a:schemeClr val="tx1"/>
                </a:solidFill>
              </a:rPr>
              <a:t>Repeatable, reviewable, previewed before every change</a:t>
            </a:r>
            <a:endParaRPr lang="en-US" sz="1400" dirty="0"/>
          </a:p>
        </p:txBody>
      </p:sp>
      <p:sp>
        <p:nvSpPr>
          <p:cNvPr id="19" name="wy4"/>
          <p:cNvSpPr/>
          <p:nvPr/>
        </p:nvSpPr>
        <p:spPr>
          <a:xfrm>
            <a:off x="548640" y="3474720"/>
            <a:ext cx="3931920" cy="1005840"/>
          </a:xfrm>
          <a:prstGeom prst="roundRect">
            <a:avLst>
              <a:gd name="adj" fmla="val 7273"/>
            </a:avLst>
          </a:prstGeom>
          <a:solidFill>
            <a:schemeClr val="bg2"/>
          </a:solidFill>
          <a:ln w="6350">
            <a:solidFill>
              <a:schemeClr val="bg2"/>
            </a:solidFill>
            <a:prstDash val="solid"/>
          </a:ln>
        </p:spPr>
      </p:sp>
      <p:sp>
        <p:nvSpPr>
          <p:cNvPr id="20" name="wn4"/>
          <p:cNvSpPr txBox="1"/>
          <p:nvPr/>
        </p:nvSpPr>
        <p:spPr>
          <a:xfrm>
            <a:off x="685800" y="35844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Text 19"/>
          <p:cNvSpPr txBox="1"/>
          <p:nvPr/>
        </p:nvSpPr>
        <p:spPr>
          <a:xfrm>
            <a:off x="1188720" y="3566160"/>
            <a:ext cx="3200400" cy="384048"/>
          </a:xfrm>
          <a:prstGeom prst="rect">
            <a:avLst/>
          </a:prstGeom>
          <a:noFill/>
          <a:ln/>
        </p:spPr>
        <p:txBody>
          <a:bodyPr wrap="square" lIns="0" tIns="0" rIns="0" bIns="0" rtlCol="0" anchor="ctr"/>
          <a:lstStyle/>
          <a:p>
            <a:pPr indent="0" marL="0">
              <a:buNone/>
            </a:pPr>
            <a:r>
              <a:rPr lang="en-US" sz="1600" b="1" dirty="0">
                <a:solidFill>
                  <a:schemeClr val="tx2"/>
                </a:solidFill>
              </a:rPr>
              <a:t>Elastic IP</a:t>
            </a:r>
            <a:endParaRPr lang="en-US" sz="1600" dirty="0"/>
          </a:p>
        </p:txBody>
      </p:sp>
      <p:sp>
        <p:nvSpPr>
          <p:cNvPr id="22" name="Text 20"/>
          <p:cNvSpPr txBox="1"/>
          <p:nvPr/>
        </p:nvSpPr>
        <p:spPr>
          <a:xfrm>
            <a:off x="1188720" y="3950208"/>
            <a:ext cx="3200400" cy="475488"/>
          </a:xfrm>
          <a:prstGeom prst="rect">
            <a:avLst/>
          </a:prstGeom>
          <a:noFill/>
          <a:ln/>
        </p:spPr>
        <p:txBody>
          <a:bodyPr wrap="square" lIns="0" tIns="0" rIns="0" bIns="0" rtlCol="0" anchor="t"/>
          <a:lstStyle/>
          <a:p>
            <a:pPr indent="0" marL="0">
              <a:buNone/>
            </a:pPr>
            <a:r>
              <a:rPr lang="en-US" sz="1400" dirty="0">
                <a:solidFill>
                  <a:schemeClr val="tx1"/>
                </a:solidFill>
              </a:rPr>
              <a:t>Atlas allowlists IPs, so the address must not change</a:t>
            </a:r>
            <a:endParaRPr lang="en-US" sz="1400" dirty="0"/>
          </a:p>
        </p:txBody>
      </p:sp>
      <p:sp>
        <p:nvSpPr>
          <p:cNvPr id="23" name="wy5"/>
          <p:cNvSpPr/>
          <p:nvPr/>
        </p:nvSpPr>
        <p:spPr>
          <a:xfrm>
            <a:off x="4663440" y="3474720"/>
            <a:ext cx="3931920" cy="1005840"/>
          </a:xfrm>
          <a:prstGeom prst="roundRect">
            <a:avLst>
              <a:gd name="adj" fmla="val 7273"/>
            </a:avLst>
          </a:prstGeom>
          <a:solidFill>
            <a:schemeClr val="bg2"/>
          </a:solidFill>
          <a:ln w="6350">
            <a:solidFill>
              <a:schemeClr val="bg2"/>
            </a:solidFill>
            <a:prstDash val="solid"/>
          </a:ln>
        </p:spPr>
      </p:sp>
      <p:sp>
        <p:nvSpPr>
          <p:cNvPr id="24" name="wn5"/>
          <p:cNvSpPr txBox="1"/>
          <p:nvPr/>
        </p:nvSpPr>
        <p:spPr>
          <a:xfrm>
            <a:off x="4800600" y="35844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5" name="Text 23"/>
          <p:cNvSpPr txBox="1"/>
          <p:nvPr/>
        </p:nvSpPr>
        <p:spPr>
          <a:xfrm>
            <a:off x="5303520" y="3566160"/>
            <a:ext cx="3200400" cy="384048"/>
          </a:xfrm>
          <a:prstGeom prst="rect">
            <a:avLst/>
          </a:prstGeom>
          <a:noFill/>
          <a:ln/>
        </p:spPr>
        <p:txBody>
          <a:bodyPr wrap="square" lIns="0" tIns="0" rIns="0" bIns="0" rtlCol="0" anchor="ctr"/>
          <a:lstStyle/>
          <a:p>
            <a:pPr indent="0" marL="0">
              <a:buNone/>
            </a:pPr>
            <a:r>
              <a:rPr lang="en-US" sz="1600" b="1" dirty="0">
                <a:solidFill>
                  <a:schemeClr val="tx2"/>
                </a:solidFill>
              </a:rPr>
              <a:t>Port 80 only, no SSH</a:t>
            </a:r>
            <a:endParaRPr lang="en-US" sz="1600" dirty="0"/>
          </a:p>
        </p:txBody>
      </p:sp>
      <p:sp>
        <p:nvSpPr>
          <p:cNvPr id="26" name="Text 24"/>
          <p:cNvSpPr txBox="1"/>
          <p:nvPr/>
        </p:nvSpPr>
        <p:spPr>
          <a:xfrm>
            <a:off x="5303520" y="3950208"/>
            <a:ext cx="3200400" cy="475488"/>
          </a:xfrm>
          <a:prstGeom prst="rect">
            <a:avLst/>
          </a:prstGeom>
          <a:noFill/>
          <a:ln/>
        </p:spPr>
        <p:txBody>
          <a:bodyPr wrap="square" lIns="0" tIns="0" rIns="0" bIns="0" rtlCol="0" anchor="t"/>
          <a:lstStyle/>
          <a:p>
            <a:pPr indent="0" marL="0">
              <a:buNone/>
            </a:pPr>
            <a:r>
              <a:rPr lang="en-US" sz="1400" dirty="0">
                <a:solidFill>
                  <a:schemeClr val="tx1"/>
                </a:solidFill>
              </a:rPr>
              <a:t>Small attack surface, Session Manager for admin</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8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How secrets stay out of the code</a:t>
            </a:r>
            <a:endParaRPr lang="en-US" sz="3000" dirty="0"/>
          </a:p>
        </p:txBody>
      </p:sp>
      <p:sp>
        <p:nvSpPr>
          <p:cNvPr id="3" name="st0"/>
          <p:cNvSpPr/>
          <p:nvPr/>
        </p:nvSpPr>
        <p:spPr>
          <a:xfrm>
            <a:off x="548640" y="1371600"/>
            <a:ext cx="1874520" cy="2377440"/>
          </a:xfrm>
          <a:prstGeom prst="roundRect">
            <a:avLst>
              <a:gd name="adj" fmla="val 3902"/>
            </a:avLst>
          </a:prstGeom>
          <a:solidFill>
            <a:schemeClr val="bg2"/>
          </a:solidFill>
          <a:ln w="6350">
            <a:solidFill>
              <a:schemeClr val="bg2"/>
            </a:solidFill>
            <a:prstDash val="solid"/>
          </a:ln>
        </p:spPr>
      </p:sp>
      <p:sp>
        <p:nvSpPr>
          <p:cNvPr id="4" name="sn0"/>
          <p:cNvSpPr txBox="1"/>
          <p:nvPr/>
        </p:nvSpPr>
        <p:spPr>
          <a:xfrm>
            <a:off x="685800" y="150876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685800" y="2011680"/>
            <a:ext cx="1645920" cy="365760"/>
          </a:xfrm>
          <a:prstGeom prst="rect">
            <a:avLst/>
          </a:prstGeom>
          <a:noFill/>
          <a:ln/>
        </p:spPr>
        <p:txBody>
          <a:bodyPr wrap="square" lIns="0" tIns="0" rIns="0" bIns="0" rtlCol="0" anchor="ctr"/>
          <a:lstStyle/>
          <a:p>
            <a:pPr indent="0" marL="0">
              <a:buNone/>
            </a:pPr>
            <a:r>
              <a:rPr lang="en-US" sz="1800" b="1" dirty="0">
                <a:solidFill>
                  <a:schemeClr val="tx2"/>
                </a:solidFill>
              </a:rPr>
              <a:t>Stored</a:t>
            </a:r>
            <a:endParaRPr lang="en-US" sz="1800" dirty="0"/>
          </a:p>
        </p:txBody>
      </p:sp>
      <p:sp>
        <p:nvSpPr>
          <p:cNvPr id="6" name="Text 4"/>
          <p:cNvSpPr txBox="1"/>
          <p:nvPr/>
        </p:nvSpPr>
        <p:spPr>
          <a:xfrm>
            <a:off x="685800" y="2423160"/>
            <a:ext cx="1645920" cy="1280160"/>
          </a:xfrm>
          <a:prstGeom prst="rect">
            <a:avLst/>
          </a:prstGeom>
          <a:noFill/>
          <a:ln/>
        </p:spPr>
        <p:txBody>
          <a:bodyPr wrap="square" lIns="0" tIns="0" rIns="0" bIns="0" rtlCol="0" anchor="t"/>
          <a:lstStyle/>
          <a:p>
            <a:pPr indent="0" marL="0">
              <a:buNone/>
            </a:pPr>
            <a:r>
              <a:rPr lang="en-US" sz="1400" dirty="0">
                <a:solidFill>
                  <a:schemeClr val="tx1"/>
                </a:solidFill>
              </a:rPr>
              <a:t>MongoDB string and JWT secret saved as encrypted SecureStrings</a:t>
            </a:r>
            <a:endParaRPr lang="en-US" sz="1400" dirty="0"/>
          </a:p>
        </p:txBody>
      </p:sp>
      <p:sp>
        <p:nvSpPr>
          <p:cNvPr id="7" name="st1"/>
          <p:cNvSpPr/>
          <p:nvPr/>
        </p:nvSpPr>
        <p:spPr>
          <a:xfrm>
            <a:off x="2606040" y="1371600"/>
            <a:ext cx="1874520" cy="2377440"/>
          </a:xfrm>
          <a:prstGeom prst="roundRect">
            <a:avLst>
              <a:gd name="adj" fmla="val 3902"/>
            </a:avLst>
          </a:prstGeom>
          <a:solidFill>
            <a:schemeClr val="bg2"/>
          </a:solidFill>
          <a:ln w="6350">
            <a:solidFill>
              <a:schemeClr val="bg2"/>
            </a:solidFill>
            <a:prstDash val="solid"/>
          </a:ln>
        </p:spPr>
      </p:sp>
      <p:sp>
        <p:nvSpPr>
          <p:cNvPr id="8" name="sn1"/>
          <p:cNvSpPr txBox="1"/>
          <p:nvPr/>
        </p:nvSpPr>
        <p:spPr>
          <a:xfrm>
            <a:off x="2743200" y="150876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2743200" y="2011680"/>
            <a:ext cx="1645920" cy="365760"/>
          </a:xfrm>
          <a:prstGeom prst="rect">
            <a:avLst/>
          </a:prstGeom>
          <a:noFill/>
          <a:ln/>
        </p:spPr>
        <p:txBody>
          <a:bodyPr wrap="square" lIns="0" tIns="0" rIns="0" bIns="0" rtlCol="0" anchor="ctr"/>
          <a:lstStyle/>
          <a:p>
            <a:pPr indent="0" marL="0">
              <a:buNone/>
            </a:pPr>
            <a:r>
              <a:rPr lang="en-US" sz="1800" b="1" dirty="0">
                <a:solidFill>
                  <a:schemeClr val="tx2"/>
                </a:solidFill>
              </a:rPr>
              <a:t>Fetched</a:t>
            </a:r>
            <a:endParaRPr lang="en-US" sz="1800" dirty="0"/>
          </a:p>
        </p:txBody>
      </p:sp>
      <p:sp>
        <p:nvSpPr>
          <p:cNvPr id="10" name="Text 8"/>
          <p:cNvSpPr txBox="1"/>
          <p:nvPr/>
        </p:nvSpPr>
        <p:spPr>
          <a:xfrm>
            <a:off x="2743200" y="2423160"/>
            <a:ext cx="1645920" cy="1280160"/>
          </a:xfrm>
          <a:prstGeom prst="rect">
            <a:avLst/>
          </a:prstGeom>
          <a:noFill/>
          <a:ln/>
        </p:spPr>
        <p:txBody>
          <a:bodyPr wrap="square" lIns="0" tIns="0" rIns="0" bIns="0" rtlCol="0" anchor="t"/>
          <a:lstStyle/>
          <a:p>
            <a:pPr indent="0" marL="0">
              <a:buNone/>
            </a:pPr>
            <a:r>
              <a:rPr lang="en-US" sz="1400" dirty="0">
                <a:solidFill>
                  <a:schemeClr val="tx1"/>
                </a:solidFill>
              </a:rPr>
              <a:t>On each start, the instance role reads only those two parameters</a:t>
            </a:r>
            <a:endParaRPr lang="en-US" sz="1400" dirty="0"/>
          </a:p>
        </p:txBody>
      </p:sp>
      <p:sp>
        <p:nvSpPr>
          <p:cNvPr id="11" name="st2"/>
          <p:cNvSpPr/>
          <p:nvPr/>
        </p:nvSpPr>
        <p:spPr>
          <a:xfrm>
            <a:off x="4663440" y="1371600"/>
            <a:ext cx="1874520" cy="2377440"/>
          </a:xfrm>
          <a:prstGeom prst="roundRect">
            <a:avLst>
              <a:gd name="adj" fmla="val 3902"/>
            </a:avLst>
          </a:prstGeom>
          <a:solidFill>
            <a:schemeClr val="bg2"/>
          </a:solidFill>
          <a:ln w="6350">
            <a:solidFill>
              <a:schemeClr val="bg2"/>
            </a:solidFill>
            <a:prstDash val="solid"/>
          </a:ln>
        </p:spPr>
      </p:sp>
      <p:sp>
        <p:nvSpPr>
          <p:cNvPr id="12" name="sn2"/>
          <p:cNvSpPr txBox="1"/>
          <p:nvPr/>
        </p:nvSpPr>
        <p:spPr>
          <a:xfrm>
            <a:off x="4800600" y="150876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4800600" y="2011680"/>
            <a:ext cx="1645920" cy="365760"/>
          </a:xfrm>
          <a:prstGeom prst="rect">
            <a:avLst/>
          </a:prstGeom>
          <a:noFill/>
          <a:ln/>
        </p:spPr>
        <p:txBody>
          <a:bodyPr wrap="square" lIns="0" tIns="0" rIns="0" bIns="0" rtlCol="0" anchor="ctr"/>
          <a:lstStyle/>
          <a:p>
            <a:pPr indent="0" marL="0">
              <a:buNone/>
            </a:pPr>
            <a:r>
              <a:rPr lang="en-US" sz="1800" b="1" dirty="0">
                <a:solidFill>
                  <a:schemeClr val="tx2"/>
                </a:solidFill>
              </a:rPr>
              <a:t>Loaded</a:t>
            </a:r>
            <a:endParaRPr lang="en-US" sz="1800" dirty="0"/>
          </a:p>
        </p:txBody>
      </p:sp>
      <p:sp>
        <p:nvSpPr>
          <p:cNvPr id="14" name="Text 12"/>
          <p:cNvSpPr txBox="1"/>
          <p:nvPr/>
        </p:nvSpPr>
        <p:spPr>
          <a:xfrm>
            <a:off x="4800600" y="2423160"/>
            <a:ext cx="1645920" cy="1280160"/>
          </a:xfrm>
          <a:prstGeom prst="rect">
            <a:avLst/>
          </a:prstGeom>
          <a:noFill/>
          <a:ln/>
        </p:spPr>
        <p:txBody>
          <a:bodyPr wrap="square" lIns="0" tIns="0" rIns="0" bIns="0" rtlCol="0" anchor="t"/>
          <a:lstStyle/>
          <a:p>
            <a:pPr indent="0" marL="0">
              <a:buNone/>
            </a:pPr>
            <a:r>
              <a:rPr lang="en-US" sz="1400" dirty="0">
                <a:solidFill>
                  <a:schemeClr val="tx1"/>
                </a:solidFill>
              </a:rPr>
              <a:t>Written to memory (/run), mode 600, then Node starts</a:t>
            </a:r>
            <a:endParaRPr lang="en-US" sz="1400" dirty="0"/>
          </a:p>
        </p:txBody>
      </p:sp>
      <p:sp>
        <p:nvSpPr>
          <p:cNvPr id="15" name="st3"/>
          <p:cNvSpPr/>
          <p:nvPr/>
        </p:nvSpPr>
        <p:spPr>
          <a:xfrm>
            <a:off x="6720840" y="1371600"/>
            <a:ext cx="1874520" cy="2377440"/>
          </a:xfrm>
          <a:prstGeom prst="roundRect">
            <a:avLst>
              <a:gd name="adj" fmla="val 3902"/>
            </a:avLst>
          </a:prstGeom>
          <a:solidFill>
            <a:schemeClr val="bg2"/>
          </a:solidFill>
          <a:ln w="6350">
            <a:solidFill>
              <a:schemeClr val="bg2"/>
            </a:solidFill>
            <a:prstDash val="solid"/>
          </a:ln>
        </p:spPr>
      </p:sp>
      <p:sp>
        <p:nvSpPr>
          <p:cNvPr id="16" name="sn3"/>
          <p:cNvSpPr txBox="1"/>
          <p:nvPr/>
        </p:nvSpPr>
        <p:spPr>
          <a:xfrm>
            <a:off x="6858000" y="150876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6858000" y="2011680"/>
            <a:ext cx="1645920" cy="365760"/>
          </a:xfrm>
          <a:prstGeom prst="rect">
            <a:avLst/>
          </a:prstGeom>
          <a:noFill/>
          <a:ln/>
        </p:spPr>
        <p:txBody>
          <a:bodyPr wrap="square" lIns="0" tIns="0" rIns="0" bIns="0" rtlCol="0" anchor="ctr"/>
          <a:lstStyle/>
          <a:p>
            <a:pPr indent="0" marL="0">
              <a:buNone/>
            </a:pPr>
            <a:r>
              <a:rPr lang="en-US" sz="1800" b="1" dirty="0">
                <a:solidFill>
                  <a:schemeClr val="tx2"/>
                </a:solidFill>
              </a:rPr>
              <a:t>Rotated</a:t>
            </a:r>
            <a:endParaRPr lang="en-US" sz="1800" dirty="0"/>
          </a:p>
        </p:txBody>
      </p:sp>
      <p:sp>
        <p:nvSpPr>
          <p:cNvPr id="18" name="Text 16"/>
          <p:cNvSpPr txBox="1"/>
          <p:nvPr/>
        </p:nvSpPr>
        <p:spPr>
          <a:xfrm>
            <a:off x="6858000" y="2423160"/>
            <a:ext cx="1645920" cy="1280160"/>
          </a:xfrm>
          <a:prstGeom prst="rect">
            <a:avLst/>
          </a:prstGeom>
          <a:noFill/>
          <a:ln/>
        </p:spPr>
        <p:txBody>
          <a:bodyPr wrap="square" lIns="0" tIns="0" rIns="0" bIns="0" rtlCol="0" anchor="t"/>
          <a:lstStyle/>
          <a:p>
            <a:pPr indent="0" marL="0">
              <a:buNone/>
            </a:pPr>
            <a:r>
              <a:rPr lang="en-US" sz="1400" dirty="0">
                <a:solidFill>
                  <a:schemeClr val="tx1"/>
                </a:solidFill>
              </a:rPr>
              <a:t>Update the parameter, restart the service</a:t>
            </a:r>
            <a:endParaRPr lang="en-US" sz="1400" dirty="0"/>
          </a:p>
        </p:txBody>
      </p:sp>
      <p:sp>
        <p:nvSpPr>
          <p:cNvPr id="19" name="Text 17"/>
          <p:cNvSpPr txBox="1"/>
          <p:nvPr/>
        </p:nvSpPr>
        <p:spPr>
          <a:xfrm>
            <a:off x="548640" y="4023360"/>
            <a:ext cx="8046720" cy="457200"/>
          </a:xfrm>
          <a:prstGeom prst="rect">
            <a:avLst/>
          </a:prstGeom>
          <a:noFill/>
          <a:ln/>
        </p:spPr>
        <p:txBody>
          <a:bodyPr wrap="square" lIns="0" tIns="0" rIns="0" bIns="0" rtlCol="0" anchor="ctr"/>
          <a:lstStyle/>
          <a:p>
            <a:pPr indent="0" marL="0">
              <a:buNone/>
            </a:pPr>
            <a:r>
              <a:rPr lang="en-US" sz="1400" dirty="0">
                <a:solidFill>
                  <a:schemeClr val="accent4"/>
                </a:solidFill>
              </a:rPr>
              <a:t>Also: IMDSv2 required, no inbound SSH, nothing sensitive in git</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8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Problems hit and how they were solved</a:t>
            </a:r>
            <a:endParaRPr lang="en-US" sz="3000" dirty="0"/>
          </a:p>
        </p:txBody>
      </p:sp>
      <p:sp>
        <p:nvSpPr>
          <p:cNvPr id="3" name="ch0"/>
          <p:cNvSpPr/>
          <p:nvPr/>
        </p:nvSpPr>
        <p:spPr>
          <a:xfrm>
            <a:off x="548640" y="1234440"/>
            <a:ext cx="8046720" cy="713232"/>
          </a:xfrm>
          <a:prstGeom prst="roundRect">
            <a:avLst>
              <a:gd name="adj" fmla="val 10256"/>
            </a:avLst>
          </a:prstGeom>
          <a:solidFill>
            <a:schemeClr val="bg2"/>
          </a:solidFill>
          <a:ln w="6350">
            <a:solidFill>
              <a:schemeClr val="bg2"/>
            </a:solidFill>
            <a:prstDash val="solid"/>
          </a:ln>
        </p:spPr>
      </p:sp>
      <p:sp>
        <p:nvSpPr>
          <p:cNvPr id="4" name="Text 2"/>
          <p:cNvSpPr txBox="1"/>
          <p:nvPr/>
        </p:nvSpPr>
        <p:spPr>
          <a:xfrm>
            <a:off x="731520" y="1280160"/>
            <a:ext cx="3291840" cy="621792"/>
          </a:xfrm>
          <a:prstGeom prst="rect">
            <a:avLst/>
          </a:prstGeom>
          <a:noFill/>
          <a:ln/>
        </p:spPr>
        <p:txBody>
          <a:bodyPr wrap="square" lIns="0" tIns="0" rIns="0" bIns="0" rtlCol="0" anchor="ctr"/>
          <a:lstStyle/>
          <a:p>
            <a:pPr indent="0" marL="0">
              <a:buNone/>
            </a:pPr>
            <a:r>
              <a:rPr lang="en-US" sz="1500" b="1" dirty="0">
                <a:solidFill>
                  <a:schemeClr val="accent6"/>
                </a:solidFill>
              </a:rPr>
              <a:t>No default VPC in the region</a:t>
            </a:r>
            <a:endParaRPr lang="en-US" sz="1500" dirty="0"/>
          </a:p>
        </p:txBody>
      </p:sp>
      <p:sp>
        <p:nvSpPr>
          <p:cNvPr id="5" name="Text 3"/>
          <p:cNvSpPr txBox="1"/>
          <p:nvPr/>
        </p:nvSpPr>
        <p:spPr>
          <a:xfrm>
            <a:off x="4206240" y="1280160"/>
            <a:ext cx="4297680" cy="621792"/>
          </a:xfrm>
          <a:prstGeom prst="rect">
            <a:avLst/>
          </a:prstGeom>
          <a:noFill/>
          <a:ln/>
        </p:spPr>
        <p:txBody>
          <a:bodyPr wrap="square" lIns="0" tIns="0" rIns="0" bIns="0" rtlCol="0" anchor="ctr"/>
          <a:lstStyle/>
          <a:p>
            <a:pPr indent="0" marL="0">
              <a:buNone/>
            </a:pPr>
            <a:r>
              <a:rPr lang="en-US" sz="1400" dirty="0">
                <a:solidFill>
                  <a:schemeClr val="tx1"/>
                </a:solidFill>
              </a:rPr>
              <a:t>Built our own VPC, subnet and routes in the template</a:t>
            </a:r>
            <a:endParaRPr lang="en-US" sz="1400" dirty="0"/>
          </a:p>
        </p:txBody>
      </p:sp>
      <p:sp>
        <p:nvSpPr>
          <p:cNvPr id="6" name="ch1"/>
          <p:cNvSpPr/>
          <p:nvPr/>
        </p:nvSpPr>
        <p:spPr>
          <a:xfrm>
            <a:off x="548640" y="2057400"/>
            <a:ext cx="8046720" cy="713232"/>
          </a:xfrm>
          <a:prstGeom prst="roundRect">
            <a:avLst>
              <a:gd name="adj" fmla="val 10256"/>
            </a:avLst>
          </a:prstGeom>
          <a:solidFill>
            <a:schemeClr val="bg2"/>
          </a:solidFill>
          <a:ln w="6350">
            <a:solidFill>
              <a:schemeClr val="bg2"/>
            </a:solidFill>
            <a:prstDash val="solid"/>
          </a:ln>
        </p:spPr>
      </p:sp>
      <p:sp>
        <p:nvSpPr>
          <p:cNvPr id="7" name="Text 5"/>
          <p:cNvSpPr txBox="1"/>
          <p:nvPr/>
        </p:nvSpPr>
        <p:spPr>
          <a:xfrm>
            <a:off x="731520" y="2103120"/>
            <a:ext cx="3291840" cy="621792"/>
          </a:xfrm>
          <a:prstGeom prst="rect">
            <a:avLst/>
          </a:prstGeom>
          <a:noFill/>
          <a:ln/>
        </p:spPr>
        <p:txBody>
          <a:bodyPr wrap="square" lIns="0" tIns="0" rIns="0" bIns="0" rtlCol="0" anchor="ctr"/>
          <a:lstStyle/>
          <a:p>
            <a:pPr indent="0" marL="0">
              <a:buNone/>
            </a:pPr>
            <a:r>
              <a:rPr lang="en-US" sz="1500" b="1" dirty="0">
                <a:solidFill>
                  <a:schemeClr val="accent6"/>
                </a:solidFill>
              </a:rPr>
              <a:t>CloudFront denied (account verification)</a:t>
            </a:r>
            <a:endParaRPr lang="en-US" sz="1500" dirty="0"/>
          </a:p>
        </p:txBody>
      </p:sp>
      <p:sp>
        <p:nvSpPr>
          <p:cNvPr id="8" name="Text 6"/>
          <p:cNvSpPr txBox="1"/>
          <p:nvPr/>
        </p:nvSpPr>
        <p:spPr>
          <a:xfrm>
            <a:off x="4206240" y="2103120"/>
            <a:ext cx="4297680" cy="621792"/>
          </a:xfrm>
          <a:prstGeom prst="rect">
            <a:avLst/>
          </a:prstGeom>
          <a:noFill/>
          <a:ln/>
        </p:spPr>
        <p:txBody>
          <a:bodyPr wrap="square" lIns="0" tIns="0" rIns="0" bIns="0" rtlCol="0" anchor="ctr"/>
          <a:lstStyle/>
          <a:p>
            <a:pPr indent="0" marL="0">
              <a:buNone/>
            </a:pPr>
            <a:r>
              <a:rPr lang="en-US" sz="1400" dirty="0">
                <a:solidFill>
                  <a:schemeClr val="tx1"/>
                </a:solidFill>
              </a:rPr>
              <a:t>Switched to a single EC2 with nginx, CloudFront variant kept for later</a:t>
            </a:r>
            <a:endParaRPr lang="en-US" sz="1400" dirty="0"/>
          </a:p>
        </p:txBody>
      </p:sp>
      <p:sp>
        <p:nvSpPr>
          <p:cNvPr id="9" name="ch2"/>
          <p:cNvSpPr/>
          <p:nvPr/>
        </p:nvSpPr>
        <p:spPr>
          <a:xfrm>
            <a:off x="548640" y="2880360"/>
            <a:ext cx="8046720" cy="713232"/>
          </a:xfrm>
          <a:prstGeom prst="roundRect">
            <a:avLst>
              <a:gd name="adj" fmla="val 10256"/>
            </a:avLst>
          </a:prstGeom>
          <a:solidFill>
            <a:schemeClr val="bg2"/>
          </a:solidFill>
          <a:ln w="6350">
            <a:solidFill>
              <a:schemeClr val="bg2"/>
            </a:solidFill>
            <a:prstDash val="solid"/>
          </a:ln>
        </p:spPr>
      </p:sp>
      <p:sp>
        <p:nvSpPr>
          <p:cNvPr id="10" name="Text 8"/>
          <p:cNvSpPr txBox="1"/>
          <p:nvPr/>
        </p:nvSpPr>
        <p:spPr>
          <a:xfrm>
            <a:off x="731520" y="2926080"/>
            <a:ext cx="3291840" cy="621792"/>
          </a:xfrm>
          <a:prstGeom prst="rect">
            <a:avLst/>
          </a:prstGeom>
          <a:noFill/>
          <a:ln/>
        </p:spPr>
        <p:txBody>
          <a:bodyPr wrap="square" lIns="0" tIns="0" rIns="0" bIns="0" rtlCol="0" anchor="ctr"/>
          <a:lstStyle/>
          <a:p>
            <a:pPr indent="0" marL="0">
              <a:buNone/>
            </a:pPr>
            <a:r>
              <a:rPr lang="en-US" sz="1500" b="1" dirty="0">
                <a:solidFill>
                  <a:schemeClr val="accent6"/>
                </a:solidFill>
              </a:rPr>
              <a:t>API failed to start under systemd</a:t>
            </a:r>
            <a:endParaRPr lang="en-US" sz="1500" dirty="0"/>
          </a:p>
        </p:txBody>
      </p:sp>
      <p:sp>
        <p:nvSpPr>
          <p:cNvPr id="11" name="Text 9"/>
          <p:cNvSpPr txBox="1"/>
          <p:nvPr/>
        </p:nvSpPr>
        <p:spPr>
          <a:xfrm>
            <a:off x="4206240" y="2926080"/>
            <a:ext cx="4297680" cy="621792"/>
          </a:xfrm>
          <a:prstGeom prst="rect">
            <a:avLst/>
          </a:prstGeom>
          <a:noFill/>
          <a:ln/>
        </p:spPr>
        <p:txBody>
          <a:bodyPr wrap="square" lIns="0" tIns="0" rIns="0" bIns="0" rtlCol="0" anchor="ctr"/>
          <a:lstStyle/>
          <a:p>
            <a:pPr indent="0" marL="0">
              <a:buNone/>
            </a:pPr>
            <a:r>
              <a:rPr lang="en-US" sz="1400" dirty="0">
                <a:solidFill>
                  <a:schemeClr val="tx1"/>
                </a:solidFill>
              </a:rPr>
              <a:t>Secrets loaded through a bash wrapper, nginx started first</a:t>
            </a:r>
            <a:endParaRPr lang="en-US" sz="1400" dirty="0"/>
          </a:p>
        </p:txBody>
      </p:sp>
      <p:sp>
        <p:nvSpPr>
          <p:cNvPr id="12" name="ch3"/>
          <p:cNvSpPr/>
          <p:nvPr/>
        </p:nvSpPr>
        <p:spPr>
          <a:xfrm>
            <a:off x="548640" y="3703320"/>
            <a:ext cx="8046720" cy="713232"/>
          </a:xfrm>
          <a:prstGeom prst="roundRect">
            <a:avLst>
              <a:gd name="adj" fmla="val 10256"/>
            </a:avLst>
          </a:prstGeom>
          <a:solidFill>
            <a:schemeClr val="bg2"/>
          </a:solidFill>
          <a:ln w="6350">
            <a:solidFill>
              <a:schemeClr val="bg2"/>
            </a:solidFill>
            <a:prstDash val="solid"/>
          </a:ln>
        </p:spPr>
      </p:sp>
      <p:sp>
        <p:nvSpPr>
          <p:cNvPr id="13" name="Text 11"/>
          <p:cNvSpPr txBox="1"/>
          <p:nvPr/>
        </p:nvSpPr>
        <p:spPr>
          <a:xfrm>
            <a:off x="731520" y="3749040"/>
            <a:ext cx="3291840" cy="621792"/>
          </a:xfrm>
          <a:prstGeom prst="rect">
            <a:avLst/>
          </a:prstGeom>
          <a:noFill/>
          <a:ln/>
        </p:spPr>
        <p:txBody>
          <a:bodyPr wrap="square" lIns="0" tIns="0" rIns="0" bIns="0" rtlCol="0" anchor="ctr"/>
          <a:lstStyle/>
          <a:p>
            <a:pPr indent="0" marL="0">
              <a:buNone/>
            </a:pPr>
            <a:r>
              <a:rPr lang="en-US" sz="1500" b="1" dirty="0">
                <a:solidFill>
                  <a:schemeClr val="accent6"/>
                </a:solidFill>
              </a:rPr>
              <a:t>Login timed out, DB looked blocked</a:t>
            </a:r>
            <a:endParaRPr lang="en-US" sz="1500" dirty="0"/>
          </a:p>
        </p:txBody>
      </p:sp>
      <p:sp>
        <p:nvSpPr>
          <p:cNvPr id="14" name="Text 12"/>
          <p:cNvSpPr txBox="1"/>
          <p:nvPr/>
        </p:nvSpPr>
        <p:spPr>
          <a:xfrm>
            <a:off x="4206240" y="3749040"/>
            <a:ext cx="4297680" cy="621792"/>
          </a:xfrm>
          <a:prstGeom prst="rect">
            <a:avLst/>
          </a:prstGeom>
          <a:noFill/>
          <a:ln/>
        </p:spPr>
        <p:txBody>
          <a:bodyPr wrap="square" lIns="0" tIns="0" rIns="0" bIns="0" rtlCol="0" anchor="ctr"/>
          <a:lstStyle/>
          <a:p>
            <a:pPr indent="0" marL="0">
              <a:buNone/>
            </a:pPr>
            <a:r>
              <a:rPr lang="en-US" sz="1400" dirty="0">
                <a:solidFill>
                  <a:schemeClr val="tx1"/>
                </a:solidFill>
              </a:rPr>
              <a:t>Shell dropped the &amp; characters in the connection string; fixed with printf %q</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8F"/>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Added: monitoring and self-healing</a:t>
            </a:r>
            <a:endParaRPr lang="en-US" sz="3000" dirty="0"/>
          </a:p>
        </p:txBody>
      </p:sp>
      <p:sp>
        <p:nvSpPr>
          <p:cNvPr id="3" name="al0"/>
          <p:cNvSpPr/>
          <p:nvPr/>
        </p:nvSpPr>
        <p:spPr>
          <a:xfrm>
            <a:off x="548640" y="1280160"/>
            <a:ext cx="3931920" cy="1097280"/>
          </a:xfrm>
          <a:prstGeom prst="roundRect">
            <a:avLst>
              <a:gd name="adj" fmla="val 6667"/>
            </a:avLst>
          </a:prstGeom>
          <a:solidFill>
            <a:schemeClr val="bg2"/>
          </a:solidFill>
          <a:ln w="6350">
            <a:solidFill>
              <a:schemeClr val="bg2"/>
            </a:solidFill>
            <a:prstDash val="solid"/>
          </a:ln>
        </p:spPr>
      </p:sp>
      <p:sp>
        <p:nvSpPr>
          <p:cNvPr id="4" name="Text 2"/>
          <p:cNvSpPr txBox="1"/>
          <p:nvPr/>
        </p:nvSpPr>
        <p:spPr>
          <a:xfrm>
            <a:off x="731520" y="1389888"/>
            <a:ext cx="3566160" cy="365760"/>
          </a:xfrm>
          <a:prstGeom prst="rect">
            <a:avLst/>
          </a:prstGeom>
          <a:noFill/>
          <a:ln/>
        </p:spPr>
        <p:txBody>
          <a:bodyPr wrap="square" lIns="0" tIns="0" rIns="0" bIns="0" rtlCol="0" anchor="ctr"/>
          <a:lstStyle/>
          <a:p>
            <a:pPr indent="0" marL="0">
              <a:buNone/>
            </a:pPr>
            <a:r>
              <a:rPr lang="en-US" sz="1800" b="1" dirty="0">
                <a:solidFill>
                  <a:schemeClr val="tx2"/>
                </a:solidFill>
              </a:rPr>
              <a:t>Host failure</a:t>
            </a:r>
            <a:endParaRPr lang="en-US" sz="1800" dirty="0"/>
          </a:p>
        </p:txBody>
      </p:sp>
      <p:sp>
        <p:nvSpPr>
          <p:cNvPr id="5" name="Text 3"/>
          <p:cNvSpPr txBox="1"/>
          <p:nvPr/>
        </p:nvSpPr>
        <p:spPr>
          <a:xfrm>
            <a:off x="731520" y="1783080"/>
            <a:ext cx="3566160" cy="502920"/>
          </a:xfrm>
          <a:prstGeom prst="rect">
            <a:avLst/>
          </a:prstGeom>
          <a:noFill/>
          <a:ln/>
        </p:spPr>
        <p:txBody>
          <a:bodyPr wrap="square" lIns="0" tIns="0" rIns="0" bIns="0" rtlCol="0" anchor="t"/>
          <a:lstStyle/>
          <a:p>
            <a:pPr indent="0" marL="0">
              <a:buNone/>
            </a:pPr>
            <a:r>
              <a:rPr lang="en-US" sz="1400" dirty="0">
                <a:solidFill>
                  <a:schemeClr val="tx1"/>
                </a:solidFill>
              </a:rPr>
              <a:t>Auto recover the instance on new hardware, same IP, email sent</a:t>
            </a:r>
            <a:endParaRPr lang="en-US" sz="1400" dirty="0"/>
          </a:p>
        </p:txBody>
      </p:sp>
      <p:sp>
        <p:nvSpPr>
          <p:cNvPr id="6" name="al1"/>
          <p:cNvSpPr/>
          <p:nvPr/>
        </p:nvSpPr>
        <p:spPr>
          <a:xfrm>
            <a:off x="4663440" y="1280160"/>
            <a:ext cx="3931920" cy="1097280"/>
          </a:xfrm>
          <a:prstGeom prst="roundRect">
            <a:avLst>
              <a:gd name="adj" fmla="val 6667"/>
            </a:avLst>
          </a:prstGeom>
          <a:solidFill>
            <a:schemeClr val="bg2"/>
          </a:solidFill>
          <a:ln w="6350">
            <a:solidFill>
              <a:schemeClr val="bg2"/>
            </a:solidFill>
            <a:prstDash val="solid"/>
          </a:ln>
        </p:spPr>
      </p:sp>
      <p:sp>
        <p:nvSpPr>
          <p:cNvPr id="7" name="Text 5"/>
          <p:cNvSpPr txBox="1"/>
          <p:nvPr/>
        </p:nvSpPr>
        <p:spPr>
          <a:xfrm>
            <a:off x="4846320" y="1389888"/>
            <a:ext cx="3566160" cy="365760"/>
          </a:xfrm>
          <a:prstGeom prst="rect">
            <a:avLst/>
          </a:prstGeom>
          <a:noFill/>
          <a:ln/>
        </p:spPr>
        <p:txBody>
          <a:bodyPr wrap="square" lIns="0" tIns="0" rIns="0" bIns="0" rtlCol="0" anchor="ctr"/>
          <a:lstStyle/>
          <a:p>
            <a:pPr indent="0" marL="0">
              <a:buNone/>
            </a:pPr>
            <a:r>
              <a:rPr lang="en-US" sz="1800" b="1" dirty="0">
                <a:solidFill>
                  <a:schemeClr val="tx2"/>
                </a:solidFill>
              </a:rPr>
              <a:t>OS not responding</a:t>
            </a:r>
            <a:endParaRPr lang="en-US" sz="1800" dirty="0"/>
          </a:p>
        </p:txBody>
      </p:sp>
      <p:sp>
        <p:nvSpPr>
          <p:cNvPr id="8" name="Text 6"/>
          <p:cNvSpPr txBox="1"/>
          <p:nvPr/>
        </p:nvSpPr>
        <p:spPr>
          <a:xfrm>
            <a:off x="4846320" y="1783080"/>
            <a:ext cx="3566160" cy="502920"/>
          </a:xfrm>
          <a:prstGeom prst="rect">
            <a:avLst/>
          </a:prstGeom>
          <a:noFill/>
          <a:ln/>
        </p:spPr>
        <p:txBody>
          <a:bodyPr wrap="square" lIns="0" tIns="0" rIns="0" bIns="0" rtlCol="0" anchor="t"/>
          <a:lstStyle/>
          <a:p>
            <a:pPr indent="0" marL="0">
              <a:buNone/>
            </a:pPr>
            <a:r>
              <a:rPr lang="en-US" sz="1400" dirty="0">
                <a:solidFill>
                  <a:schemeClr val="tx1"/>
                </a:solidFill>
              </a:rPr>
              <a:t>Automatic reboot and an email alert</a:t>
            </a:r>
            <a:endParaRPr lang="en-US" sz="1400" dirty="0"/>
          </a:p>
        </p:txBody>
      </p:sp>
      <p:sp>
        <p:nvSpPr>
          <p:cNvPr id="9" name="al2"/>
          <p:cNvSpPr/>
          <p:nvPr/>
        </p:nvSpPr>
        <p:spPr>
          <a:xfrm>
            <a:off x="548640" y="2560320"/>
            <a:ext cx="3931920" cy="1097280"/>
          </a:xfrm>
          <a:prstGeom prst="roundRect">
            <a:avLst>
              <a:gd name="adj" fmla="val 6667"/>
            </a:avLst>
          </a:prstGeom>
          <a:solidFill>
            <a:schemeClr val="bg2"/>
          </a:solidFill>
          <a:ln w="6350">
            <a:solidFill>
              <a:schemeClr val="bg2"/>
            </a:solidFill>
            <a:prstDash val="solid"/>
          </a:ln>
        </p:spPr>
      </p:sp>
      <p:sp>
        <p:nvSpPr>
          <p:cNvPr id="10" name="Text 8"/>
          <p:cNvSpPr txBox="1"/>
          <p:nvPr/>
        </p:nvSpPr>
        <p:spPr>
          <a:xfrm>
            <a:off x="731520" y="2670048"/>
            <a:ext cx="3566160" cy="365760"/>
          </a:xfrm>
          <a:prstGeom prst="rect">
            <a:avLst/>
          </a:prstGeom>
          <a:noFill/>
          <a:ln/>
        </p:spPr>
        <p:txBody>
          <a:bodyPr wrap="square" lIns="0" tIns="0" rIns="0" bIns="0" rtlCol="0" anchor="ctr"/>
          <a:lstStyle/>
          <a:p>
            <a:pPr indent="0" marL="0">
              <a:buNone/>
            </a:pPr>
            <a:r>
              <a:rPr lang="en-US" sz="1800" b="1" dirty="0">
                <a:solidFill>
                  <a:schemeClr val="tx2"/>
                </a:solidFill>
              </a:rPr>
              <a:t>High CPU</a:t>
            </a:r>
            <a:endParaRPr lang="en-US" sz="1800" dirty="0"/>
          </a:p>
        </p:txBody>
      </p:sp>
      <p:sp>
        <p:nvSpPr>
          <p:cNvPr id="11" name="Text 9"/>
          <p:cNvSpPr txBox="1"/>
          <p:nvPr/>
        </p:nvSpPr>
        <p:spPr>
          <a:xfrm>
            <a:off x="731520" y="3063240"/>
            <a:ext cx="3566160" cy="502920"/>
          </a:xfrm>
          <a:prstGeom prst="rect">
            <a:avLst/>
          </a:prstGeom>
          <a:noFill/>
          <a:ln/>
        </p:spPr>
        <p:txBody>
          <a:bodyPr wrap="square" lIns="0" tIns="0" rIns="0" bIns="0" rtlCol="0" anchor="t"/>
          <a:lstStyle/>
          <a:p>
            <a:pPr indent="0" marL="0">
              <a:buNone/>
            </a:pPr>
            <a:r>
              <a:rPr lang="en-US" sz="1400" dirty="0">
                <a:solidFill>
                  <a:schemeClr val="tx1"/>
                </a:solidFill>
              </a:rPr>
              <a:t>Email if CPU over 80% for 10 minutes</a:t>
            </a:r>
            <a:endParaRPr lang="en-US" sz="1400" dirty="0"/>
          </a:p>
        </p:txBody>
      </p:sp>
      <p:sp>
        <p:nvSpPr>
          <p:cNvPr id="12" name="al3"/>
          <p:cNvSpPr/>
          <p:nvPr/>
        </p:nvSpPr>
        <p:spPr>
          <a:xfrm>
            <a:off x="4663440" y="2560320"/>
            <a:ext cx="3931920" cy="1097280"/>
          </a:xfrm>
          <a:prstGeom prst="roundRect">
            <a:avLst>
              <a:gd name="adj" fmla="val 6667"/>
            </a:avLst>
          </a:prstGeom>
          <a:solidFill>
            <a:schemeClr val="bg2"/>
          </a:solidFill>
          <a:ln w="6350">
            <a:solidFill>
              <a:schemeClr val="bg2"/>
            </a:solidFill>
            <a:prstDash val="solid"/>
          </a:ln>
        </p:spPr>
      </p:sp>
      <p:sp>
        <p:nvSpPr>
          <p:cNvPr id="13" name="Text 11"/>
          <p:cNvSpPr txBox="1"/>
          <p:nvPr/>
        </p:nvSpPr>
        <p:spPr>
          <a:xfrm>
            <a:off x="4846320" y="2670048"/>
            <a:ext cx="3566160" cy="365760"/>
          </a:xfrm>
          <a:prstGeom prst="rect">
            <a:avLst/>
          </a:prstGeom>
          <a:noFill/>
          <a:ln/>
        </p:spPr>
        <p:txBody>
          <a:bodyPr wrap="square" lIns="0" tIns="0" rIns="0" bIns="0" rtlCol="0" anchor="ctr"/>
          <a:lstStyle/>
          <a:p>
            <a:pPr indent="0" marL="0">
              <a:buNone/>
            </a:pPr>
            <a:r>
              <a:rPr lang="en-US" sz="1800" b="1" dirty="0">
                <a:solidFill>
                  <a:schemeClr val="tx2"/>
                </a:solidFill>
              </a:rPr>
              <a:t>Dashboard</a:t>
            </a:r>
            <a:endParaRPr lang="en-US" sz="1800" dirty="0"/>
          </a:p>
        </p:txBody>
      </p:sp>
      <p:sp>
        <p:nvSpPr>
          <p:cNvPr id="14" name="Text 12"/>
          <p:cNvSpPr txBox="1"/>
          <p:nvPr/>
        </p:nvSpPr>
        <p:spPr>
          <a:xfrm>
            <a:off x="4846320" y="3063240"/>
            <a:ext cx="3566160" cy="502920"/>
          </a:xfrm>
          <a:prstGeom prst="rect">
            <a:avLst/>
          </a:prstGeom>
          <a:noFill/>
          <a:ln/>
        </p:spPr>
        <p:txBody>
          <a:bodyPr wrap="square" lIns="0" tIns="0" rIns="0" bIns="0" rtlCol="0" anchor="t"/>
          <a:lstStyle/>
          <a:p>
            <a:pPr indent="0" marL="0">
              <a:buNone/>
            </a:pPr>
            <a:r>
              <a:rPr lang="en-US" sz="1400" dirty="0">
                <a:solidFill>
                  <a:schemeClr val="tx1"/>
                </a:solidFill>
              </a:rPr>
              <a:t>CPU, network and status checks on one page</a:t>
            </a:r>
            <a:endParaRPr lang="en-US" sz="1400" dirty="0"/>
          </a:p>
        </p:txBody>
      </p:sp>
      <p:sp>
        <p:nvSpPr>
          <p:cNvPr id="15" name="Text 13"/>
          <p:cNvSpPr txBox="1"/>
          <p:nvPr/>
        </p:nvSpPr>
        <p:spPr>
          <a:xfrm>
            <a:off x="548640" y="3931920"/>
            <a:ext cx="8046720" cy="640080"/>
          </a:xfrm>
          <a:prstGeom prst="rect">
            <a:avLst/>
          </a:prstGeom>
          <a:noFill/>
          <a:ln/>
        </p:spPr>
        <p:txBody>
          <a:bodyPr wrap="square" lIns="0" tIns="0" rIns="0" bIns="0" rtlCol="0" anchor="t"/>
          <a:lstStyle/>
          <a:p>
            <a:pPr indent="0" marL="0">
              <a:buNone/>
            </a:pPr>
            <a:r>
              <a:rPr lang="en-US" sz="1400" dirty="0">
                <a:solidFill>
                  <a:schemeClr val="accent4"/>
                </a:solidFill>
              </a:rPr>
              <a:t>CloudWatch alarms, SNS email topic and dashboard are part of the CloudFormation stack. They were applied to the live stack on 27 Oct 2026.</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8F"/>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How it was verified</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914400"/>
        </p:xfrm>
        <a:graphic>
          <a:graphicData uri="http://schemas.openxmlformats.org/drawingml/2006/table">
            <a:tbl>
              <a:tblPr/>
              <a:tblGrid>
                <a:gridCol w="3291840"/>
                <a:gridCol w="4754880"/>
              </a:tblGrid>
              <a:tr h="457200">
                <a:tc>
                  <a:txBody>
                    <a:bodyPr/>
                    <a:lstStyle/>
                    <a:p>
                      <a:pPr indent="0" marL="0">
                        <a:buNone/>
                      </a:pPr>
                      <a:r>
                        <a:rPr lang="en-US" sz="1400" b="1" dirty="0">
                          <a:solidFill>
                            <a:schemeClr val="bg1"/>
                          </a:solidFill>
                        </a:rPr>
                        <a:t>Check</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Result</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tx1"/>
                          </a:solidFill>
                        </a:rPr>
                        <a:t>Site over HTTP</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200, login page renders</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API health endpoint</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200, status ok</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8 protected endpoints, no token</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All return 401</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Sign-up with bad input</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400 with validation errors</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Login with wrong credentials</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401 in about 25 ms, so the database is reachable</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CloudFormation stack</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UPDATE_COMPLETE, alarms and dashboard live</a:t>
                      </a:r>
                      <a:endParaRPr lang="en-US" sz="1400" dirty="0"/>
                    </a:p>
                  </a:txBody>
                  <a:tcPr marL="91440" marR="91440" marT="45720" marB="4572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8F"/>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What comes next</a:t>
            </a:r>
            <a:endParaRPr lang="en-US" sz="3000" dirty="0"/>
          </a:p>
        </p:txBody>
      </p:sp>
      <p:sp>
        <p:nvSpPr>
          <p:cNvPr id="3" name="rm0"/>
          <p:cNvSpPr/>
          <p:nvPr/>
        </p:nvSpPr>
        <p:spPr>
          <a:xfrm>
            <a:off x="548640" y="1280160"/>
            <a:ext cx="2560320" cy="1554480"/>
          </a:xfrm>
          <a:prstGeom prst="roundRect">
            <a:avLst>
              <a:gd name="adj" fmla="val 4706"/>
            </a:avLst>
          </a:prstGeom>
          <a:solidFill>
            <a:schemeClr val="bg2"/>
          </a:solidFill>
          <a:ln w="6350">
            <a:solidFill>
              <a:schemeClr val="bg2"/>
            </a:solidFill>
            <a:prstDash val="solid"/>
          </a:ln>
        </p:spPr>
      </p:sp>
      <p:sp>
        <p:nvSpPr>
          <p:cNvPr id="4" name="rn0"/>
          <p:cNvSpPr txBox="1"/>
          <p:nvPr/>
        </p:nvSpPr>
        <p:spPr>
          <a:xfrm>
            <a:off x="685800" y="141732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143000" y="1417320"/>
            <a:ext cx="1874520" cy="384048"/>
          </a:xfrm>
          <a:prstGeom prst="rect">
            <a:avLst/>
          </a:prstGeom>
          <a:noFill/>
          <a:ln/>
        </p:spPr>
        <p:txBody>
          <a:bodyPr wrap="square" lIns="0" tIns="0" rIns="0" bIns="0" rtlCol="0" anchor="ctr"/>
          <a:lstStyle/>
          <a:p>
            <a:pPr indent="0" marL="0">
              <a:buNone/>
            </a:pPr>
            <a:r>
              <a:rPr lang="en-US" sz="1600" b="1" dirty="0">
                <a:solidFill>
                  <a:schemeClr val="tx2"/>
                </a:solidFill>
              </a:rPr>
              <a:t>HTTPS</a:t>
            </a:r>
            <a:endParaRPr lang="en-US" sz="1600" dirty="0"/>
          </a:p>
        </p:txBody>
      </p:sp>
      <p:sp>
        <p:nvSpPr>
          <p:cNvPr id="6" name="Text 4"/>
          <p:cNvSpPr txBox="1"/>
          <p:nvPr/>
        </p:nvSpPr>
        <p:spPr>
          <a:xfrm>
            <a:off x="685800" y="1901952"/>
            <a:ext cx="2286000" cy="868680"/>
          </a:xfrm>
          <a:prstGeom prst="rect">
            <a:avLst/>
          </a:prstGeom>
          <a:noFill/>
          <a:ln/>
        </p:spPr>
        <p:txBody>
          <a:bodyPr wrap="square" lIns="0" tIns="0" rIns="0" bIns="0" rtlCol="0" anchor="t"/>
          <a:lstStyle/>
          <a:p>
            <a:pPr indent="0" marL="0">
              <a:buNone/>
            </a:pPr>
            <a:r>
              <a:rPr lang="en-US" sz="1400" dirty="0">
                <a:solidFill>
                  <a:schemeClr val="tx1"/>
                </a:solidFill>
              </a:rPr>
              <a:t>CloudFront and an ACM certificate once verification clears</a:t>
            </a:r>
            <a:endParaRPr lang="en-US" sz="1400" dirty="0"/>
          </a:p>
        </p:txBody>
      </p:sp>
      <p:sp>
        <p:nvSpPr>
          <p:cNvPr id="7" name="rm1"/>
          <p:cNvSpPr/>
          <p:nvPr/>
        </p:nvSpPr>
        <p:spPr>
          <a:xfrm>
            <a:off x="3291840" y="1280160"/>
            <a:ext cx="2560320" cy="1554480"/>
          </a:xfrm>
          <a:prstGeom prst="roundRect">
            <a:avLst>
              <a:gd name="adj" fmla="val 4706"/>
            </a:avLst>
          </a:prstGeom>
          <a:solidFill>
            <a:schemeClr val="bg2"/>
          </a:solidFill>
          <a:ln w="6350">
            <a:solidFill>
              <a:schemeClr val="bg2"/>
            </a:solidFill>
            <a:prstDash val="solid"/>
          </a:ln>
        </p:spPr>
      </p:sp>
      <p:sp>
        <p:nvSpPr>
          <p:cNvPr id="8" name="rn1"/>
          <p:cNvSpPr txBox="1"/>
          <p:nvPr/>
        </p:nvSpPr>
        <p:spPr>
          <a:xfrm>
            <a:off x="3429000" y="141732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3886200" y="1417320"/>
            <a:ext cx="1874520" cy="384048"/>
          </a:xfrm>
          <a:prstGeom prst="rect">
            <a:avLst/>
          </a:prstGeom>
          <a:noFill/>
          <a:ln/>
        </p:spPr>
        <p:txBody>
          <a:bodyPr wrap="square" lIns="0" tIns="0" rIns="0" bIns="0" rtlCol="0" anchor="ctr"/>
          <a:lstStyle/>
          <a:p>
            <a:pPr indent="0" marL="0">
              <a:buNone/>
            </a:pPr>
            <a:r>
              <a:rPr lang="en-US" sz="1600" b="1" dirty="0">
                <a:solidFill>
                  <a:schemeClr val="tx2"/>
                </a:solidFill>
              </a:rPr>
              <a:t>Custom domain</a:t>
            </a:r>
            <a:endParaRPr lang="en-US" sz="1600" dirty="0"/>
          </a:p>
        </p:txBody>
      </p:sp>
      <p:sp>
        <p:nvSpPr>
          <p:cNvPr id="10" name="Text 8"/>
          <p:cNvSpPr txBox="1"/>
          <p:nvPr/>
        </p:nvSpPr>
        <p:spPr>
          <a:xfrm>
            <a:off x="3429000" y="1901952"/>
            <a:ext cx="2286000" cy="868680"/>
          </a:xfrm>
          <a:prstGeom prst="rect">
            <a:avLst/>
          </a:prstGeom>
          <a:noFill/>
          <a:ln/>
        </p:spPr>
        <p:txBody>
          <a:bodyPr wrap="square" lIns="0" tIns="0" rIns="0" bIns="0" rtlCol="0" anchor="t"/>
          <a:lstStyle/>
          <a:p>
            <a:pPr indent="0" marL="0">
              <a:buNone/>
            </a:pPr>
            <a:r>
              <a:rPr lang="en-US" sz="1400" dirty="0">
                <a:solidFill>
                  <a:schemeClr val="tx1"/>
                </a:solidFill>
              </a:rPr>
              <a:t>Route 53 record for a friendly name</a:t>
            </a:r>
            <a:endParaRPr lang="en-US" sz="1400" dirty="0"/>
          </a:p>
        </p:txBody>
      </p:sp>
      <p:sp>
        <p:nvSpPr>
          <p:cNvPr id="11" name="rm2"/>
          <p:cNvSpPr/>
          <p:nvPr/>
        </p:nvSpPr>
        <p:spPr>
          <a:xfrm>
            <a:off x="6035040" y="1280160"/>
            <a:ext cx="2560320" cy="1554480"/>
          </a:xfrm>
          <a:prstGeom prst="roundRect">
            <a:avLst>
              <a:gd name="adj" fmla="val 4706"/>
            </a:avLst>
          </a:prstGeom>
          <a:solidFill>
            <a:schemeClr val="bg2"/>
          </a:solidFill>
          <a:ln w="6350">
            <a:solidFill>
              <a:schemeClr val="bg2"/>
            </a:solidFill>
            <a:prstDash val="solid"/>
          </a:ln>
        </p:spPr>
      </p:sp>
      <p:sp>
        <p:nvSpPr>
          <p:cNvPr id="12" name="rn2"/>
          <p:cNvSpPr txBox="1"/>
          <p:nvPr/>
        </p:nvSpPr>
        <p:spPr>
          <a:xfrm>
            <a:off x="6172200" y="141732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6629400" y="1417320"/>
            <a:ext cx="1874520" cy="384048"/>
          </a:xfrm>
          <a:prstGeom prst="rect">
            <a:avLst/>
          </a:prstGeom>
          <a:noFill/>
          <a:ln/>
        </p:spPr>
        <p:txBody>
          <a:bodyPr wrap="square" lIns="0" tIns="0" rIns="0" bIns="0" rtlCol="0" anchor="ctr"/>
          <a:lstStyle/>
          <a:p>
            <a:pPr indent="0" marL="0">
              <a:buNone/>
            </a:pPr>
            <a:r>
              <a:rPr lang="en-US" sz="1600" b="1" dirty="0">
                <a:solidFill>
                  <a:schemeClr val="tx2"/>
                </a:solidFill>
              </a:rPr>
              <a:t>High availability</a:t>
            </a:r>
            <a:endParaRPr lang="en-US" sz="1600" dirty="0"/>
          </a:p>
        </p:txBody>
      </p:sp>
      <p:sp>
        <p:nvSpPr>
          <p:cNvPr id="14" name="Text 12"/>
          <p:cNvSpPr txBox="1"/>
          <p:nvPr/>
        </p:nvSpPr>
        <p:spPr>
          <a:xfrm>
            <a:off x="6172200" y="1901952"/>
            <a:ext cx="2286000" cy="868680"/>
          </a:xfrm>
          <a:prstGeom prst="rect">
            <a:avLst/>
          </a:prstGeom>
          <a:noFill/>
          <a:ln/>
        </p:spPr>
        <p:txBody>
          <a:bodyPr wrap="square" lIns="0" tIns="0" rIns="0" bIns="0" rtlCol="0" anchor="t"/>
          <a:lstStyle/>
          <a:p>
            <a:pPr indent="0" marL="0">
              <a:buNone/>
            </a:pPr>
            <a:r>
              <a:rPr lang="en-US" sz="1400" dirty="0">
                <a:solidFill>
                  <a:schemeClr val="tx1"/>
                </a:solidFill>
              </a:rPr>
              <a:t>Load balancer and auto scaling over two zones</a:t>
            </a:r>
            <a:endParaRPr lang="en-US" sz="1400" dirty="0"/>
          </a:p>
        </p:txBody>
      </p:sp>
      <p:sp>
        <p:nvSpPr>
          <p:cNvPr id="15" name="rm3"/>
          <p:cNvSpPr/>
          <p:nvPr/>
        </p:nvSpPr>
        <p:spPr>
          <a:xfrm>
            <a:off x="548640" y="3017520"/>
            <a:ext cx="2560320" cy="1554480"/>
          </a:xfrm>
          <a:prstGeom prst="roundRect">
            <a:avLst>
              <a:gd name="adj" fmla="val 4706"/>
            </a:avLst>
          </a:prstGeom>
          <a:solidFill>
            <a:schemeClr val="bg2"/>
          </a:solidFill>
          <a:ln w="6350">
            <a:solidFill>
              <a:schemeClr val="bg2"/>
            </a:solidFill>
            <a:prstDash val="solid"/>
          </a:ln>
        </p:spPr>
      </p:sp>
      <p:sp>
        <p:nvSpPr>
          <p:cNvPr id="16" name="rn3"/>
          <p:cNvSpPr txBox="1"/>
          <p:nvPr/>
        </p:nvSpPr>
        <p:spPr>
          <a:xfrm>
            <a:off x="685800" y="315468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1143000" y="3154680"/>
            <a:ext cx="1874520" cy="384048"/>
          </a:xfrm>
          <a:prstGeom prst="rect">
            <a:avLst/>
          </a:prstGeom>
          <a:noFill/>
          <a:ln/>
        </p:spPr>
        <p:txBody>
          <a:bodyPr wrap="square" lIns="0" tIns="0" rIns="0" bIns="0" rtlCol="0" anchor="ctr"/>
          <a:lstStyle/>
          <a:p>
            <a:pPr indent="0" marL="0">
              <a:buNone/>
            </a:pPr>
            <a:r>
              <a:rPr lang="en-US" sz="1600" b="1" dirty="0">
                <a:solidFill>
                  <a:schemeClr val="tx2"/>
                </a:solidFill>
              </a:rPr>
              <a:t>Logs</a:t>
            </a:r>
            <a:endParaRPr lang="en-US" sz="1600" dirty="0"/>
          </a:p>
        </p:txBody>
      </p:sp>
      <p:sp>
        <p:nvSpPr>
          <p:cNvPr id="18" name="Text 16"/>
          <p:cNvSpPr txBox="1"/>
          <p:nvPr/>
        </p:nvSpPr>
        <p:spPr>
          <a:xfrm>
            <a:off x="685800" y="3639312"/>
            <a:ext cx="2286000" cy="868680"/>
          </a:xfrm>
          <a:prstGeom prst="rect">
            <a:avLst/>
          </a:prstGeom>
          <a:noFill/>
          <a:ln/>
        </p:spPr>
        <p:txBody>
          <a:bodyPr wrap="square" lIns="0" tIns="0" rIns="0" bIns="0" rtlCol="0" anchor="t"/>
          <a:lstStyle/>
          <a:p>
            <a:pPr indent="0" marL="0">
              <a:buNone/>
            </a:pPr>
            <a:r>
              <a:rPr lang="en-US" sz="1400" dirty="0">
                <a:solidFill>
                  <a:schemeClr val="tx1"/>
                </a:solidFill>
              </a:rPr>
              <a:t>CloudWatch agent for nginx and API logs</a:t>
            </a:r>
            <a:endParaRPr lang="en-US" sz="1400" dirty="0"/>
          </a:p>
        </p:txBody>
      </p:sp>
      <p:sp>
        <p:nvSpPr>
          <p:cNvPr id="19" name="rm4"/>
          <p:cNvSpPr/>
          <p:nvPr/>
        </p:nvSpPr>
        <p:spPr>
          <a:xfrm>
            <a:off x="3291840" y="3017520"/>
            <a:ext cx="2560320" cy="1554480"/>
          </a:xfrm>
          <a:prstGeom prst="roundRect">
            <a:avLst>
              <a:gd name="adj" fmla="val 4706"/>
            </a:avLst>
          </a:prstGeom>
          <a:solidFill>
            <a:schemeClr val="bg2"/>
          </a:solidFill>
          <a:ln w="6350">
            <a:solidFill>
              <a:schemeClr val="bg2"/>
            </a:solidFill>
            <a:prstDash val="solid"/>
          </a:ln>
        </p:spPr>
      </p:sp>
      <p:sp>
        <p:nvSpPr>
          <p:cNvPr id="20" name="rn4"/>
          <p:cNvSpPr txBox="1"/>
          <p:nvPr/>
        </p:nvSpPr>
        <p:spPr>
          <a:xfrm>
            <a:off x="3429000" y="315468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Text 19"/>
          <p:cNvSpPr txBox="1"/>
          <p:nvPr/>
        </p:nvSpPr>
        <p:spPr>
          <a:xfrm>
            <a:off x="3886200" y="3154680"/>
            <a:ext cx="1874520" cy="384048"/>
          </a:xfrm>
          <a:prstGeom prst="rect">
            <a:avLst/>
          </a:prstGeom>
          <a:noFill/>
          <a:ln/>
        </p:spPr>
        <p:txBody>
          <a:bodyPr wrap="square" lIns="0" tIns="0" rIns="0" bIns="0" rtlCol="0" anchor="ctr"/>
          <a:lstStyle/>
          <a:p>
            <a:pPr indent="0" marL="0">
              <a:buNone/>
            </a:pPr>
            <a:r>
              <a:rPr lang="en-US" sz="1600" b="1" dirty="0">
                <a:solidFill>
                  <a:schemeClr val="tx2"/>
                </a:solidFill>
              </a:rPr>
              <a:t>Backups</a:t>
            </a:r>
            <a:endParaRPr lang="en-US" sz="1600" dirty="0"/>
          </a:p>
        </p:txBody>
      </p:sp>
      <p:sp>
        <p:nvSpPr>
          <p:cNvPr id="22" name="Text 20"/>
          <p:cNvSpPr txBox="1"/>
          <p:nvPr/>
        </p:nvSpPr>
        <p:spPr>
          <a:xfrm>
            <a:off x="3429000" y="3639312"/>
            <a:ext cx="2286000" cy="868680"/>
          </a:xfrm>
          <a:prstGeom prst="rect">
            <a:avLst/>
          </a:prstGeom>
          <a:noFill/>
          <a:ln/>
        </p:spPr>
        <p:txBody>
          <a:bodyPr wrap="square" lIns="0" tIns="0" rIns="0" bIns="0" rtlCol="0" anchor="t"/>
          <a:lstStyle/>
          <a:p>
            <a:pPr indent="0" marL="0">
              <a:buNone/>
            </a:pPr>
            <a:r>
              <a:rPr lang="en-US" sz="1400" dirty="0">
                <a:solidFill>
                  <a:schemeClr val="tx1"/>
                </a:solidFill>
              </a:rPr>
              <a:t>Encrypted volume and AWS Backup snapshots</a:t>
            </a:r>
            <a:endParaRPr lang="en-US" sz="1400" dirty="0"/>
          </a:p>
        </p:txBody>
      </p:sp>
      <p:sp>
        <p:nvSpPr>
          <p:cNvPr id="23" name="rm5"/>
          <p:cNvSpPr/>
          <p:nvPr/>
        </p:nvSpPr>
        <p:spPr>
          <a:xfrm>
            <a:off x="6035040" y="3017520"/>
            <a:ext cx="2560320" cy="1554480"/>
          </a:xfrm>
          <a:prstGeom prst="roundRect">
            <a:avLst>
              <a:gd name="adj" fmla="val 4706"/>
            </a:avLst>
          </a:prstGeom>
          <a:solidFill>
            <a:schemeClr val="bg2"/>
          </a:solidFill>
          <a:ln w="6350">
            <a:solidFill>
              <a:schemeClr val="bg2"/>
            </a:solidFill>
            <a:prstDash val="solid"/>
          </a:ln>
        </p:spPr>
      </p:sp>
      <p:sp>
        <p:nvSpPr>
          <p:cNvPr id="24" name="rn5"/>
          <p:cNvSpPr txBox="1"/>
          <p:nvPr/>
        </p:nvSpPr>
        <p:spPr>
          <a:xfrm>
            <a:off x="6172200" y="315468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5" name="Text 23"/>
          <p:cNvSpPr txBox="1"/>
          <p:nvPr/>
        </p:nvSpPr>
        <p:spPr>
          <a:xfrm>
            <a:off x="6629400" y="3154680"/>
            <a:ext cx="1874520" cy="384048"/>
          </a:xfrm>
          <a:prstGeom prst="rect">
            <a:avLst/>
          </a:prstGeom>
          <a:noFill/>
          <a:ln/>
        </p:spPr>
        <p:txBody>
          <a:bodyPr wrap="square" lIns="0" tIns="0" rIns="0" bIns="0" rtlCol="0" anchor="ctr"/>
          <a:lstStyle/>
          <a:p>
            <a:pPr indent="0" marL="0">
              <a:buNone/>
            </a:pPr>
            <a:r>
              <a:rPr lang="en-US" sz="1600" b="1" dirty="0">
                <a:solidFill>
                  <a:schemeClr val="tx2"/>
                </a:solidFill>
              </a:rPr>
              <a:t>CI/CD</a:t>
            </a:r>
            <a:endParaRPr lang="en-US" sz="1600" dirty="0"/>
          </a:p>
        </p:txBody>
      </p:sp>
      <p:sp>
        <p:nvSpPr>
          <p:cNvPr id="26" name="Text 24"/>
          <p:cNvSpPr txBox="1"/>
          <p:nvPr/>
        </p:nvSpPr>
        <p:spPr>
          <a:xfrm>
            <a:off x="6172200" y="3639312"/>
            <a:ext cx="2286000" cy="868680"/>
          </a:xfrm>
          <a:prstGeom prst="rect">
            <a:avLst/>
          </a:prstGeom>
          <a:noFill/>
          <a:ln/>
        </p:spPr>
        <p:txBody>
          <a:bodyPr wrap="square" lIns="0" tIns="0" rIns="0" bIns="0" rtlCol="0" anchor="t"/>
          <a:lstStyle/>
          <a:p>
            <a:pPr indent="0" marL="0">
              <a:buNone/>
            </a:pPr>
            <a:r>
              <a:rPr lang="en-US" sz="1400" dirty="0">
                <a:solidFill>
                  <a:schemeClr val="tx1"/>
                </a:solidFill>
              </a:rPr>
              <a:t>GitHub Actions updates the stack on push</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8F"/>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7863840" cy="1371600"/>
          </a:xfrm>
          <a:prstGeom prst="rect">
            <a:avLst/>
          </a:prstGeom>
          <a:noFill/>
          <a:ln/>
        </p:spPr>
        <p:txBody>
          <a:bodyPr wrap="square" lIns="0" tIns="0" rIns="0" bIns="0" rtlCol="0" anchor="b"/>
          <a:lstStyle/>
          <a:p>
            <a:pPr algn="l" indent="0" marL="0">
              <a:buNone/>
            </a:pPr>
            <a:r>
              <a:rPr lang="en-US" sz="4000" b="1" dirty="0">
                <a:solidFill>
                  <a:schemeClr val="bg1"/>
                </a:solidFill>
              </a:rPr>
              <a:t>Live on AWS</a:t>
            </a:r>
            <a:endParaRPr lang="en-US" sz="4000" dirty="0"/>
          </a:p>
        </p:txBody>
      </p:sp>
      <p:sp>
        <p:nvSpPr>
          <p:cNvPr id="3" name="Text 0"/>
          <p:cNvSpPr/>
          <p:nvPr>
            <p:ph idx="101" type="body" hasCustomPrompt="1"/>
          </p:nvPr>
        </p:nvSpPr>
        <p:spPr>
          <a:xfrm>
            <a:off x="640080" y="3017520"/>
            <a:ext cx="7863840" cy="914400"/>
          </a:xfrm>
          <a:prstGeom prst="rect">
            <a:avLst/>
          </a:prstGeom>
          <a:noFill/>
          <a:ln/>
        </p:spPr>
        <p:txBody>
          <a:bodyPr wrap="square" lIns="0" tIns="0" rIns="0" bIns="0" rtlCol="0" anchor="t"/>
          <a:lstStyle/>
          <a:p>
            <a:pPr indent="0" marL="0">
              <a:buNone/>
            </a:pPr>
            <a:r>
              <a:rPr lang="en-US" sz="1800" dirty="0">
                <a:solidFill>
                  <a:schemeClr val="bg2"/>
                </a:solidFill>
              </a:rPr>
              <a:t>http://3.7.158.104  |  ap-south-1  |  CloudFormation stack productivity-tracker-ec2</a:t>
            </a:r>
            <a:endParaRPr lang="en-US" sz="1800" dirty="0"/>
          </a:p>
        </p:txBody>
      </p:sp>
    </p:spTree>
  </p:cSld>
  <p:clrMapOvr>
    <a:masterClrMapping/>
  </p:clrMapOvr>
</p:sld>
</file>

<file path=ppt/theme/theme1.xml><?xml version="1.0" encoding="utf-8"?>
<a:theme xmlns:a="http://schemas.openxmlformats.org/drawingml/2006/main" name="Productivity AWS">
  <a:themeElements>
    <a:clrScheme name="Productivity AWS">
      <a:dk1>
        <a:srgbClr val="0B1F33"/>
      </a:dk1>
      <a:lt1>
        <a:srgbClr val="FFFFFF"/>
      </a:lt1>
      <a:dk2>
        <a:srgbClr val="12283F"/>
      </a:dk2>
      <a:lt2>
        <a:srgbClr val="EEF3F8"/>
      </a:lt2>
      <a:accent1>
        <a:srgbClr val="FF9900"/>
      </a:accent1>
      <a:accent2>
        <a:srgbClr val="1F8A9E"/>
      </a:accent2>
      <a:accent3>
        <a:srgbClr val="3B6EA5"/>
      </a:accent3>
      <a:accent4>
        <a:srgbClr val="6B7C8F"/>
      </a:accent4>
      <a:accent5>
        <a:srgbClr val="2E9E6B"/>
      </a:accent5>
      <a:accent6>
        <a:srgbClr val="D64545"/>
      </a:accent6>
      <a:hlink>
        <a:srgbClr val="3B6EA5"/>
      </a:hlink>
      <a:folHlink>
        <a:srgbClr val="6B7C8F"/>
      </a:folHlink>
    </a:clrScheme>
    <a:fontScheme name="Productivity AW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Productivity Tracker on AWS</dc:title>
  <dc:subject>PptxGenJS Presentation</dc:subject>
  <dc:creator>Shyam</dc:creator>
  <cp:lastModifiedBy>Shyam</cp:lastModifiedBy>
  <cp:revision>1</cp:revision>
  <dcterms:created xsi:type="dcterms:W3CDTF">2026-10-27T12:45:03Z</dcterms:created>
  <dcterms:modified xsi:type="dcterms:W3CDTF">2026-10-27T12:45:03Z</dcterms:modified>
</cp:coreProperties>
</file>